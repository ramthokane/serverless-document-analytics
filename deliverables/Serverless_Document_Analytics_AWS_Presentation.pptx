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media/image2.jpg" ContentType="image/jpg"/>
  <Override PartName="/ppt/media/image3.jpg" ContentType="image/jpg"/>
  <Override PartName="/ppt/media/image4.jpg" ContentType="image/jpg"/>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56" r:id="rId2"/>
    <p:sldId id="274" r:id="rId9"/>
    <p:sldId id="275" r:id="rId10"/>
    <p:sldId id="276" r:id="rId11"/>
    <p:sldId id="277" r:id="rId12"/>
    <p:sldId id="278" r:id="rId13"/>
    <p:sldId id="279" r:id="rId14"/>
    <p:sldId id="280" r:id="rId15"/>
    <p:sldId id="281" r:id="rId16"/>
    <p:sldId id="282" r:id="rId17"/>
    <p:sldId id="283" r:id="rId18"/>
    <p:sldId id="284" r:id="rId19"/>
    <p:sldId id="273" r:id="rId3"/>
  </p:sldIdLst>
  <p:sldSz cx="12192000" cy="6858000"/>
  <p:notesSz cx="12192000" cy="68580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93447" autoAdjust="0"/>
  </p:normalViewPr>
  <p:slideViewPr>
    <p:cSldViewPr>
      <p:cViewPr varScale="1">
        <p:scale>
          <a:sx n="60" d="100"/>
          <a:sy n="60" d="100"/>
        </p:scale>
        <p:origin x="816" y="44"/>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notesMaster" Target="notesMasters/notesMaster1.xml"/><Relationship Id="rId5" Type="http://schemas.openxmlformats.org/officeDocument/2006/relationships/presProps" Target="presProps.xml"/><Relationship Id="rId6" Type="http://schemas.openxmlformats.org/officeDocument/2006/relationships/viewProps" Target="viewProps.xml"/><Relationship Id="rId7" Type="http://schemas.openxmlformats.org/officeDocument/2006/relationships/theme" Target="theme/theme1.xml"/><Relationship Id="rId8" Type="http://schemas.openxmlformats.org/officeDocument/2006/relationships/tableStyles" Target="tableStyles.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300" b="1" i="0">
                <a:solidFill>
                  <a:srgbClr val="262626"/>
                </a:solidFill>
                <a:latin typeface="Arial"/>
              </a:rPr>
              <a:t>Top 10 keywords: sample.txt (verified)</a:t>
            </a:r>
          </a:p>
        </c:rich>
      </c:tx>
      <c:layout/>
      <c:overlay val="0"/>
    </c:title>
    <c:autoTitleDeleted val="0"/>
    <c:plotArea>
      <c:barChart>
        <c:barDir val="bar"/>
        <c:grouping val="clustered"/>
        <c:ser>
          <c:idx val="0"/>
          <c:order val="0"/>
          <c:tx>
            <c:strRef>
              <c:f>Sheet1!$B$1</c:f>
              <c:strCache>
                <c:ptCount val="1"/>
                <c:pt idx="0">
                  <c:v>Frequency</c:v>
                </c:pt>
              </c:strCache>
            </c:strRef>
          </c:tx>
          <c:spPr>
            <a:solidFill>
              <a:srgbClr val="A3242F"/>
            </a:solidFill>
          </c:spPr>
          <c:cat>
            <c:strRef>
              <c:f>Sheet1!$A$2:$A$11</c:f>
              <c:strCache>
                <c:ptCount val="10"/>
                <c:pt idx="0">
                  <c:v>code</c:v>
                </c:pt>
                <c:pt idx="1">
                  <c:v>run</c:v>
                </c:pt>
                <c:pt idx="2">
                  <c:v>developers</c:v>
                </c:pt>
                <c:pt idx="3">
                  <c:v>serverless</c:v>
                </c:pt>
                <c:pt idx="4">
                  <c:v>internet</c:v>
                </c:pt>
                <c:pt idx="5">
                  <c:v>resources</c:v>
                </c:pt>
                <c:pt idx="6">
                  <c:v>scalable</c:v>
                </c:pt>
                <c:pt idx="7">
                  <c:v>provides</c:v>
                </c:pt>
                <c:pt idx="8">
                  <c:v>computing</c:v>
                </c:pt>
                <c:pt idx="9">
                  <c:v>cloud</c:v>
                </c:pt>
              </c:strCache>
            </c:strRef>
          </c:cat>
          <c:val>
            <c:numRef>
              <c:f>Sheet1!$B$2:$B$11</c:f>
              <c:numCache>
                <c:formatCode>General</c:formatCode>
                <c:ptCount val="10"/>
                <c:pt idx="0">
                  <c:v>1</c:v>
                </c:pt>
                <c:pt idx="1">
                  <c:v>1</c:v>
                </c:pt>
                <c:pt idx="2">
                  <c:v>1</c:v>
                </c:pt>
                <c:pt idx="3">
                  <c:v>1</c:v>
                </c:pt>
                <c:pt idx="4">
                  <c:v>1</c:v>
                </c:pt>
                <c:pt idx="5">
                  <c:v>1</c:v>
                </c:pt>
                <c:pt idx="6">
                  <c:v>1</c:v>
                </c:pt>
                <c:pt idx="7">
                  <c:v>2</c:v>
                </c:pt>
                <c:pt idx="8">
                  <c:v>2</c:v>
                </c:pt>
                <c:pt idx="9">
                  <c:v>2</c:v>
                </c:pt>
              </c:numCache>
            </c:numRef>
          </c:val>
        </c:ser>
        <c:dLbls>
          <c:txPr>
            <a:bodyPr/>
            <a:lstStyle/>
            <a:p>
              <a:pPr>
                <a:defRPr sz="1100">
                  <a:solidFill>
                    <a:srgbClr val="262626"/>
                  </a:solidFill>
                  <a:latin typeface="Arial"/>
                </a:defRPr>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l"/>
        <c:majorTickMark val="out"/>
        <c:minorTickMark val="none"/>
        <c:tickLblPos val="nextTo"/>
        <c:spPr>
          <a:ln>
            <a:solidFill>
              <a:srgbClr val="BFBFBF"/>
            </a:solidFill>
          </a:ln>
        </c:spPr>
        <c:txPr>
          <a:bodyPr/>
          <a:lstStyle/>
          <a:p>
            <a:pPr>
              <a:defRPr sz="1100">
                <a:solidFill>
                  <a:srgbClr val="262626"/>
                </a:solidFill>
              </a:defRPr>
            </a:pPr>
          </a:p>
        </c:txPr>
        <c:crossAx val="-2113994440"/>
        <c:crosses val="autoZero"/>
        <c:auto val="1"/>
        <c:lblAlgn val="ctr"/>
        <c:lblOffset val="100"/>
        <c:noMultiLvlLbl val="0"/>
      </c:catAx>
      <c:valAx>
        <c:axId val="-2113994440"/>
        <c:scaling>
          <c:max val="3.0"/>
        </c:scaling>
        <c:delete val="0"/>
        <c:axPos val="b"/>
        <c:majorGridlines>
          <c:spPr>
            <a:ln>
              <a:solidFill>
                <a:srgbClr val="E0E0E0"/>
              </a:solidFill>
            </a:ln>
          </c:spPr>
        </c:majorGridlines>
        <c:majorTickMark val="out"/>
        <c:minorTickMark val="none"/>
        <c:tickLblPos val="nextTo"/>
        <c:spPr>
          <a:ln>
            <a:noFill/>
          </a:ln>
        </c:spPr>
        <c:txPr>
          <a:bodyPr/>
          <a:lstStyle/>
          <a:p>
            <a:pPr>
              <a:defRPr sz="1000">
                <a:solidFill>
                  <a:srgbClr val="595959"/>
                </a:solidFill>
              </a:defRPr>
            </a:pPr>
          </a:p>
        </c:txPr>
        <c:crossAx val="-2068027336"/>
        <c:crosses val="autoZero"/>
        <c:majorUnit val="1.0"/>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6905625" y="0"/>
            <a:ext cx="5283200" cy="344488"/>
          </a:xfrm>
          <a:prstGeom prst="rect">
            <a:avLst/>
          </a:prstGeom>
        </p:spPr>
        <p:txBody>
          <a:bodyPr vert="horz" lIns="91440" tIns="45720" rIns="91440" bIns="45720" rtlCol="0"/>
          <a:lstStyle>
            <a:lvl1pPr algn="r">
              <a:defRPr sz="1200"/>
            </a:lvl1pPr>
          </a:lstStyle>
          <a:p>
            <a:fld id="{0C62D6CB-87CA-4060-AEEE-B190F9C0D9B9}" type="datetimeFigureOut">
              <a:rPr lang="en-IN" smtClean="0"/>
              <a:t>14-10-2026</a:t>
            </a:fld>
            <a:endParaRPr lang="en-IN"/>
          </a:p>
        </p:txBody>
      </p:sp>
      <p:sp>
        <p:nvSpPr>
          <p:cNvPr id="4" name="Slide Image Placeholder 3"/>
          <p:cNvSpPr>
            <a:spLocks noGrp="1" noRot="1" noChangeAspect="1"/>
          </p:cNvSpPr>
          <p:nvPr>
            <p:ph type="sldImg" idx="2"/>
          </p:nvPr>
        </p:nvSpPr>
        <p:spPr>
          <a:xfrm>
            <a:off x="4038600" y="857250"/>
            <a:ext cx="4114800" cy="2314575"/>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1219200" y="3300413"/>
            <a:ext cx="9753600" cy="270033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6513513"/>
            <a:ext cx="5283200" cy="3444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6905625" y="6513513"/>
            <a:ext cx="5283200" cy="344487"/>
          </a:xfrm>
          <a:prstGeom prst="rect">
            <a:avLst/>
          </a:prstGeom>
        </p:spPr>
        <p:txBody>
          <a:bodyPr vert="horz" lIns="91440" tIns="45720" rIns="91440" bIns="45720" rtlCol="0" anchor="b"/>
          <a:lstStyle>
            <a:lvl1pPr algn="r">
              <a:defRPr sz="1200"/>
            </a:lvl1pPr>
          </a:lstStyle>
          <a:p>
            <a:fld id="{3F26895D-E5C7-4475-A513-A3A824380F07}" type="slidenum">
              <a:rPr lang="en-IN" smtClean="0"/>
              <a:t>‹#›</a:t>
            </a:fld>
            <a:endParaRPr lang="en-IN"/>
          </a:p>
        </p:txBody>
      </p:sp>
    </p:spTree>
    <p:extLst>
      <p:ext uri="{BB962C8B-B14F-4D97-AF65-F5344CB8AC3E}">
        <p14:creationId xmlns:p14="http://schemas.microsoft.com/office/powerpoint/2010/main" val="340090785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Title slide. Introduce the team and the project: a serverless platform on AWS that uploads TXT documents, analyses them automatically and shows the analytics in a web dashboard.</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Thank you. Invite questions.</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Problem: analysing text documents by hand is slow and inconsistent. Solution: an event-driven AWS pipeline. Stress that the benefits listed are design goals of a serverless approach, not measured benchmarks.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Left: why manual analysis is a problem. Right: what the platform had to achieve, stated as checkable targets.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through the five steps. Steps 1, 2 and 5 are driven by the user through the browser; steps 3 and 4 happen automatically, triggered by the S3 event.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Red solid arrows: synchronous request/response initiated by the browser. Navy dashed arrows: the asynchronous path started by the S3 event. The browser only talks to API Gateway and, with a presigned URL, to S3. It never reaches DynamoDB.</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Only services and languages actually used in the deployed prototype are listed. All AWS resources are in ap-southeast-2 (Sydney).</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the upload handshake and how documentId ties the three records together. The screenshot is the project dashboard reading live records from DynamoDB through the API.</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rule-based counts using Python regular expressions and frequency counting. There is no machine learning or NLP model. The numbers on the right are the verified results for sample.txt.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 precise about test type. Tests 1-2 exercise the processor; 3-5 the API; 6-7 the browser. The api-test.txt record stays PENDING by design because only the presigned URL was requested and no file was uploaded.</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Left column is what is configured now. Right column is what is missing and how it would be fixed. Be open that the execution role seen in the console is broader than least privilege.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Summarise what works today, then the most valuable extensions.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Official AWS and Python documentation used for the design.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sz="2800" b="1" i="0">
                <a:solidFill>
                  <a:srgbClr val="C00000"/>
                </a:solidFill>
                <a:latin typeface="Times New Roman"/>
                <a:cs typeface="Times New Roman"/>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b="0" i="0">
                <a:solidFill>
                  <a:schemeClr val="tx1"/>
                </a:solidFil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10/14/2026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800" b="1" i="0">
                <a:solidFill>
                  <a:srgbClr val="C00000"/>
                </a:solidFill>
                <a:latin typeface="Times New Roman"/>
                <a:cs typeface="Times New Roman"/>
              </a:defRPr>
            </a:lvl1pPr>
          </a:lstStyle>
          <a:p>
            <a:endParaRPr/>
          </a:p>
        </p:txBody>
      </p:sp>
      <p:sp>
        <p:nvSpPr>
          <p:cNvPr id="3" name="Holder 3"/>
          <p:cNvSpPr>
            <a:spLocks noGrp="1"/>
          </p:cNvSpPr>
          <p:nvPr>
            <p:ph type="body" idx="1"/>
          </p:nvPr>
        </p:nvSpPr>
        <p:spPr/>
        <p:txBody>
          <a:bodyPr lIns="0" tIns="0" rIns="0" bIns="0"/>
          <a:lstStyle>
            <a:lvl1pPr>
              <a:defRPr b="0" i="0">
                <a:solidFill>
                  <a:schemeClr val="tx1"/>
                </a:solidFil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10/14/2026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800" b="1" i="0">
                <a:solidFill>
                  <a:srgbClr val="C00000"/>
                </a:solidFill>
                <a:latin typeface="Times New Roman"/>
                <a:cs typeface="Times New Roman"/>
              </a:defRPr>
            </a:lvl1pPr>
          </a:lstStyle>
          <a:p>
            <a:endParaRPr/>
          </a:p>
        </p:txBody>
      </p:sp>
      <p:sp>
        <p:nvSpPr>
          <p:cNvPr id="3" name="Holder 3"/>
          <p:cNvSpPr>
            <a:spLocks noGrp="1"/>
          </p:cNvSpPr>
          <p:nvPr>
            <p:ph sz="half" idx="2"/>
          </p:nvPr>
        </p:nvSpPr>
        <p:spPr>
          <a:xfrm>
            <a:off x="632040" y="1326235"/>
            <a:ext cx="5067935" cy="4324350"/>
          </a:xfrm>
          <a:prstGeom prst="rect">
            <a:avLst/>
          </a:prstGeom>
        </p:spPr>
        <p:txBody>
          <a:bodyPr wrap="square" lIns="0" tIns="0" rIns="0" bIns="0">
            <a:spAutoFit/>
          </a:bodyPr>
          <a:lstStyle>
            <a:lvl1pPr>
              <a:defRPr sz="2000" b="1" i="0">
                <a:solidFill>
                  <a:srgbClr val="2C3D50"/>
                </a:solidFill>
                <a:latin typeface="Times New Roman"/>
                <a:cs typeface="Times New Roman"/>
              </a:defRPr>
            </a:lvl1pPr>
          </a:lstStyle>
          <a:p>
            <a:endParaRPr/>
          </a:p>
        </p:txBody>
      </p:sp>
      <p:sp>
        <p:nvSpPr>
          <p:cNvPr id="4" name="Holder 4"/>
          <p:cNvSpPr>
            <a:spLocks noGrp="1"/>
          </p:cNvSpPr>
          <p:nvPr>
            <p:ph sz="half" idx="3"/>
          </p:nvPr>
        </p:nvSpPr>
        <p:spPr>
          <a:xfrm>
            <a:off x="6672148" y="1254937"/>
            <a:ext cx="4718684" cy="4277360"/>
          </a:xfrm>
          <a:prstGeom prst="rect">
            <a:avLst/>
          </a:prstGeom>
        </p:spPr>
        <p:txBody>
          <a:bodyPr wrap="square" lIns="0" tIns="0" rIns="0" bIns="0">
            <a:spAutoFit/>
          </a:bodyPr>
          <a:lstStyle>
            <a:lvl1pPr>
              <a:defRPr sz="2000" b="1" i="0">
                <a:solidFill>
                  <a:srgbClr val="2C3D50"/>
                </a:solidFill>
                <a:latin typeface="Times New Roman"/>
                <a:cs typeface="Times New Roman"/>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10/14/2026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800" b="1" i="0">
                <a:solidFill>
                  <a:srgbClr val="C00000"/>
                </a:solidFill>
                <a:latin typeface="Times New Roman"/>
                <a:cs typeface="Times New Roman"/>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10/14/2026</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10/14/2026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 Id="rId7" Type="http://schemas.openxmlformats.org/officeDocument/2006/relationships/image" Target="../media/image1.png"/><Relationship Id="rId8" Type="http://schemas.openxmlformats.org/officeDocument/2006/relationships/image" Target="../media/image2.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6080759"/>
            <a:ext cx="838200" cy="777240"/>
          </a:xfrm>
          <a:custGeom>
            <a:avLst/>
            <a:gdLst/>
            <a:ahLst/>
            <a:cxnLst/>
            <a:rect l="l" t="t" r="r" b="b"/>
            <a:pathLst>
              <a:path w="838200" h="777240">
                <a:moveTo>
                  <a:pt x="0" y="777239"/>
                </a:moveTo>
                <a:lnTo>
                  <a:pt x="0" y="0"/>
                </a:lnTo>
                <a:lnTo>
                  <a:pt x="838200" y="0"/>
                </a:lnTo>
                <a:lnTo>
                  <a:pt x="838200" y="777239"/>
                </a:lnTo>
                <a:lnTo>
                  <a:pt x="0" y="777239"/>
                </a:lnTo>
                <a:close/>
              </a:path>
            </a:pathLst>
          </a:custGeom>
          <a:solidFill>
            <a:srgbClr val="A3242F"/>
          </a:solidFill>
        </p:spPr>
        <p:txBody>
          <a:bodyPr wrap="square" lIns="0" tIns="0" rIns="0" bIns="0" rtlCol="0"/>
          <a:lstStyle/>
          <a:p>
            <a:endParaRPr/>
          </a:p>
        </p:txBody>
      </p:sp>
      <p:sp>
        <p:nvSpPr>
          <p:cNvPr id="17" name="bg object 17"/>
          <p:cNvSpPr/>
          <p:nvPr/>
        </p:nvSpPr>
        <p:spPr>
          <a:xfrm>
            <a:off x="10169652" y="6356603"/>
            <a:ext cx="2022475" cy="501650"/>
          </a:xfrm>
          <a:custGeom>
            <a:avLst/>
            <a:gdLst/>
            <a:ahLst/>
            <a:cxnLst/>
            <a:rect l="l" t="t" r="r" b="b"/>
            <a:pathLst>
              <a:path w="2022475" h="501650">
                <a:moveTo>
                  <a:pt x="2022348" y="501396"/>
                </a:moveTo>
                <a:lnTo>
                  <a:pt x="0" y="501396"/>
                </a:lnTo>
                <a:lnTo>
                  <a:pt x="0" y="0"/>
                </a:lnTo>
                <a:lnTo>
                  <a:pt x="2022348" y="0"/>
                </a:lnTo>
                <a:lnTo>
                  <a:pt x="2022348" y="501396"/>
                </a:lnTo>
                <a:close/>
              </a:path>
            </a:pathLst>
          </a:custGeom>
          <a:solidFill>
            <a:srgbClr val="D9212A"/>
          </a:solidFill>
        </p:spPr>
        <p:txBody>
          <a:bodyPr wrap="square" lIns="0" tIns="0" rIns="0" bIns="0" rtlCol="0"/>
          <a:lstStyle/>
          <a:p>
            <a:endParaRPr/>
          </a:p>
        </p:txBody>
      </p:sp>
      <p:sp>
        <p:nvSpPr>
          <p:cNvPr id="18" name="bg object 18"/>
          <p:cNvSpPr/>
          <p:nvPr/>
        </p:nvSpPr>
        <p:spPr>
          <a:xfrm>
            <a:off x="838200" y="6356603"/>
            <a:ext cx="9331960" cy="501650"/>
          </a:xfrm>
          <a:custGeom>
            <a:avLst/>
            <a:gdLst/>
            <a:ahLst/>
            <a:cxnLst/>
            <a:rect l="l" t="t" r="r" b="b"/>
            <a:pathLst>
              <a:path w="9331960" h="501650">
                <a:moveTo>
                  <a:pt x="9331452" y="501396"/>
                </a:moveTo>
                <a:lnTo>
                  <a:pt x="0" y="501396"/>
                </a:lnTo>
                <a:lnTo>
                  <a:pt x="0" y="0"/>
                </a:lnTo>
                <a:lnTo>
                  <a:pt x="9331452" y="0"/>
                </a:lnTo>
                <a:lnTo>
                  <a:pt x="9331452" y="501396"/>
                </a:lnTo>
                <a:close/>
              </a:path>
            </a:pathLst>
          </a:custGeom>
          <a:solidFill>
            <a:srgbClr val="A3242F"/>
          </a:solidFill>
        </p:spPr>
        <p:txBody>
          <a:bodyPr wrap="square" lIns="0" tIns="0" rIns="0" bIns="0" rtlCol="0"/>
          <a:lstStyle/>
          <a:p>
            <a:endParaRPr/>
          </a:p>
        </p:txBody>
      </p:sp>
      <p:pic>
        <p:nvPicPr>
          <p:cNvPr id="19" name="bg object 19"/>
          <p:cNvPicPr/>
          <p:nvPr/>
        </p:nvPicPr>
        <p:blipFill>
          <a:blip r:embed="rId7" cstate="print"/>
          <a:stretch>
            <a:fillRect/>
          </a:stretch>
        </p:blipFill>
        <p:spPr>
          <a:xfrm>
            <a:off x="11125200" y="225552"/>
            <a:ext cx="728472" cy="539496"/>
          </a:xfrm>
          <a:prstGeom prst="rect">
            <a:avLst/>
          </a:prstGeom>
        </p:spPr>
      </p:pic>
      <p:pic>
        <p:nvPicPr>
          <p:cNvPr id="20" name="bg object 20"/>
          <p:cNvPicPr/>
          <p:nvPr/>
        </p:nvPicPr>
        <p:blipFill>
          <a:blip r:embed="rId8" cstate="print"/>
          <a:stretch>
            <a:fillRect/>
          </a:stretch>
        </p:blipFill>
        <p:spPr>
          <a:xfrm>
            <a:off x="193547" y="141731"/>
            <a:ext cx="2316480" cy="708660"/>
          </a:xfrm>
          <a:prstGeom prst="rect">
            <a:avLst/>
          </a:prstGeom>
        </p:spPr>
      </p:pic>
      <p:sp>
        <p:nvSpPr>
          <p:cNvPr id="2" name="Holder 2"/>
          <p:cNvSpPr>
            <a:spLocks noGrp="1"/>
          </p:cNvSpPr>
          <p:nvPr>
            <p:ph type="title"/>
          </p:nvPr>
        </p:nvSpPr>
        <p:spPr>
          <a:xfrm>
            <a:off x="2872676" y="90805"/>
            <a:ext cx="7343775" cy="958265"/>
          </a:xfrm>
          <a:prstGeom prst="rect">
            <a:avLst/>
          </a:prstGeom>
        </p:spPr>
        <p:txBody>
          <a:bodyPr wrap="square" lIns="0" tIns="0" rIns="0" bIns="0">
            <a:spAutoFit/>
          </a:bodyPr>
          <a:lstStyle>
            <a:lvl1pPr>
              <a:defRPr sz="2800" b="1" i="0">
                <a:solidFill>
                  <a:srgbClr val="C00000"/>
                </a:solidFill>
                <a:latin typeface="Times New Roman"/>
                <a:cs typeface="Times New Roman"/>
              </a:defRPr>
            </a:lvl1pPr>
          </a:lstStyle>
          <a:p>
            <a:endParaRPr/>
          </a:p>
        </p:txBody>
      </p:sp>
      <p:sp>
        <p:nvSpPr>
          <p:cNvPr id="3" name="Holder 3"/>
          <p:cNvSpPr>
            <a:spLocks noGrp="1"/>
          </p:cNvSpPr>
          <p:nvPr>
            <p:ph type="body" idx="1"/>
          </p:nvPr>
        </p:nvSpPr>
        <p:spPr>
          <a:xfrm>
            <a:off x="876300" y="3212592"/>
            <a:ext cx="8775700" cy="1652270"/>
          </a:xfrm>
          <a:prstGeom prst="rect">
            <a:avLst/>
          </a:prstGeom>
        </p:spPr>
        <p:txBody>
          <a:bodyPr wrap="square" lIns="0" tIns="0" rIns="0" bIns="0">
            <a:spAutoFit/>
          </a:bodyPr>
          <a:lstStyle>
            <a:lvl1pPr>
              <a:defRPr b="0" i="0">
                <a:solidFill>
                  <a:schemeClr val="tx1"/>
                </a:solidFill>
              </a:defRPr>
            </a:lvl1pPr>
          </a:lstStyle>
          <a:p>
            <a:endParaRPr/>
          </a:p>
        </p:txBody>
      </p:sp>
      <p:sp>
        <p:nvSpPr>
          <p:cNvPr id="4" name="Holder 4"/>
          <p:cNvSpPr>
            <a:spLocks noGrp="1"/>
          </p:cNvSpPr>
          <p:nvPr>
            <p:ph type="ftr" sz="quarter" idx="5"/>
          </p:nvPr>
        </p:nvSpPr>
        <p:spPr>
          <a:xfrm>
            <a:off x="4145280" y="6377940"/>
            <a:ext cx="3901440"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10/14/2026</a:t>
            </a:fld>
            <a:endParaRPr lang="en-US"/>
          </a:p>
        </p:txBody>
      </p:sp>
      <p:sp>
        <p:nvSpPr>
          <p:cNvPr id="6" name="Holder 6"/>
          <p:cNvSpPr>
            <a:spLocks noGrp="1"/>
          </p:cNvSpPr>
          <p:nvPr>
            <p:ph type="sldNum" sz="quarter" idx="7"/>
          </p:nvPr>
        </p:nvSpPr>
        <p:spPr>
          <a:xfrm>
            <a:off x="8778240" y="6377940"/>
            <a:ext cx="280416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image" Target="../media/image3.jpg"/><Relationship Id="rId4" Type="http://schemas.openxmlformats.org/officeDocument/2006/relationships/image" Target="../media/image4.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 Id="rId3"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 Id="rId3" Type="http://schemas.openxmlformats.org/officeDocument/2006/relationships/chart" Target="../charts/char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2819400" y="94833"/>
            <a:ext cx="7343775" cy="1088810"/>
          </a:xfrm>
          <a:prstGeom prst="rect">
            <a:avLst/>
          </a:prstGeom>
        </p:spPr>
        <p:txBody>
          <a:bodyPr vert="horz" wrap="square" lIns="0" tIns="224840" rIns="0" bIns="0" rtlCol="0">
            <a:spAutoFit/>
          </a:bodyPr>
          <a:lstStyle/>
          <a:p>
            <a:pPr algn="ctr"/>
            <a:r>
              <a:rPr lang="en-IN" dirty="0"/>
              <a:t>Serverless Document Processing and Analytics Platform on AWS</a:t>
            </a:r>
          </a:p>
        </p:txBody>
      </p:sp>
      <p:pic>
        <p:nvPicPr>
          <p:cNvPr id="4" name="object 4"/>
          <p:cNvPicPr/>
          <p:nvPr/>
        </p:nvPicPr>
        <p:blipFill>
          <a:blip r:embed="rId3" cstate="print"/>
          <a:stretch>
            <a:fillRect/>
          </a:stretch>
        </p:blipFill>
        <p:spPr>
          <a:xfrm>
            <a:off x="35051" y="2615183"/>
            <a:ext cx="6051804" cy="3512820"/>
          </a:xfrm>
          <a:prstGeom prst="rect">
            <a:avLst/>
          </a:prstGeom>
        </p:spPr>
      </p:pic>
      <p:pic>
        <p:nvPicPr>
          <p:cNvPr id="5" name="object 5"/>
          <p:cNvPicPr/>
          <p:nvPr/>
        </p:nvPicPr>
        <p:blipFill>
          <a:blip r:embed="rId4" cstate="print"/>
          <a:stretch>
            <a:fillRect/>
          </a:stretch>
        </p:blipFill>
        <p:spPr>
          <a:xfrm>
            <a:off x="6199632" y="2614815"/>
            <a:ext cx="5992367" cy="3512820"/>
          </a:xfrm>
          <a:prstGeom prst="rect">
            <a:avLst/>
          </a:prstGeom>
        </p:spPr>
      </p:pic>
      <p:sp>
        <p:nvSpPr>
          <p:cNvPr id="6" name="object 6"/>
          <p:cNvSpPr txBox="1"/>
          <p:nvPr/>
        </p:nvSpPr>
        <p:spPr>
          <a:xfrm>
            <a:off x="11131639" y="5996978"/>
            <a:ext cx="91440" cy="208279"/>
          </a:xfrm>
          <a:prstGeom prst="rect">
            <a:avLst/>
          </a:prstGeom>
        </p:spPr>
        <p:txBody>
          <a:bodyPr vert="horz" wrap="square" lIns="0" tIns="12700" rIns="0" bIns="0" rtlCol="0">
            <a:spAutoFit/>
          </a:bodyPr>
          <a:lstStyle/>
          <a:p>
            <a:pPr marL="12700">
              <a:lnSpc>
                <a:spcPct val="100000"/>
              </a:lnSpc>
              <a:spcBef>
                <a:spcPts val="100"/>
              </a:spcBef>
            </a:pPr>
            <a:r>
              <a:rPr sz="1200" spc="-50" dirty="0">
                <a:solidFill>
                  <a:srgbClr val="3E3E3E"/>
                </a:solidFill>
                <a:latin typeface="Georgia"/>
                <a:cs typeface="Georgia"/>
              </a:rPr>
              <a:t>1</a:t>
            </a:r>
            <a:endParaRPr sz="1200">
              <a:latin typeface="Georgia"/>
              <a:cs typeface="Georgia"/>
            </a:endParaRPr>
          </a:p>
        </p:txBody>
      </p:sp>
      <p:sp>
        <p:nvSpPr>
          <p:cNvPr id="7" name="Students"/>
          <p:cNvSpPr txBox="1"/>
          <p:nvPr/>
        </p:nvSpPr>
        <p:spPr>
          <a:xfrm>
            <a:off x="822960" y="1216152"/>
            <a:ext cx="4663440" cy="1325880"/>
          </a:xfrm>
          <a:prstGeom prst="rect">
            <a:avLst/>
          </a:prstGeom>
          <a:noFill/>
        </p:spPr>
        <p:txBody>
          <a:bodyPr wrap="square" anchor="ctr" lIns="36576" rIns="36576" tIns="36576" bIns="36576"/>
          <a:lstStyle/>
          <a:p>
            <a:pPr algn="l">
              <a:spcAft>
                <a:spcPts val="300"/>
              </a:spcAft>
            </a:pPr>
            <a:r>
              <a:rPr sz="1300" b="0" i="1">
                <a:solidFill>
                  <a:srgbClr val="595959"/>
                </a:solidFill>
                <a:latin typeface="Arial"/>
              </a:rPr>
              <a:t>Submitted by</a:t>
            </a:r>
          </a:p>
          <a:p>
            <a:pPr algn="l">
              <a:spcAft>
                <a:spcPts val="300"/>
              </a:spcAft>
            </a:pPr>
            <a:r>
              <a:rPr sz="2000" b="0" i="0">
                <a:solidFill>
                  <a:srgbClr val="262626"/>
                </a:solidFill>
                <a:latin typeface="Arial"/>
              </a:rPr>
              <a:t>Ram Thokane</a:t>
            </a:r>
            <a:r>
              <a:rPr sz="2000" b="0" i="0">
                <a:solidFill>
                  <a:srgbClr val="595959"/>
                </a:solidFill>
                <a:latin typeface="Arial"/>
              </a:rPr>
              <a:t>   (16010123249)</a:t>
            </a:r>
          </a:p>
          <a:p>
            <a:pPr algn="l">
              <a:spcAft>
                <a:spcPts val="300"/>
              </a:spcAft>
            </a:pPr>
            <a:r>
              <a:rPr sz="2000" b="0" i="0">
                <a:solidFill>
                  <a:srgbClr val="262626"/>
                </a:solidFill>
                <a:latin typeface="Arial"/>
              </a:rPr>
              <a:t>Shashwat Jain</a:t>
            </a:r>
            <a:r>
              <a:rPr sz="2000" b="0" i="0">
                <a:solidFill>
                  <a:srgbClr val="595959"/>
                </a:solidFill>
                <a:latin typeface="Arial"/>
              </a:rPr>
              <a:t>   (16010123310)</a:t>
            </a:r>
          </a:p>
        </p:txBody>
      </p:sp>
      <p:cxnSp>
        <p:nvCxnSpPr>
          <p:cNvPr id="8" name="Connector 7"/>
          <p:cNvCxnSpPr/>
          <p:nvPr/>
        </p:nvCxnSpPr>
        <p:spPr>
          <a:xfrm>
            <a:off x="5715000" y="1298448"/>
            <a:ext cx="0" cy="1188720"/>
          </a:xfrm>
          <a:prstGeom prst="line">
            <a:avLst/>
          </a:prstGeom>
          <a:ln w="12700">
            <a:solidFill>
              <a:srgbClr val="BFBFBF"/>
            </a:solidFill>
          </a:ln>
        </p:spPr>
        <p:style>
          <a:lnRef idx="2">
            <a:schemeClr val="accent1"/>
          </a:lnRef>
          <a:fillRef idx="0">
            <a:schemeClr val="accent1"/>
          </a:fillRef>
          <a:effectRef idx="1">
            <a:schemeClr val="accent1"/>
          </a:effectRef>
          <a:fontRef idx="minor">
            <a:schemeClr val="tx1"/>
          </a:fontRef>
        </p:style>
      </p:cxnSp>
      <p:sp>
        <p:nvSpPr>
          <p:cNvPr id="9" name="Course details"/>
          <p:cNvSpPr txBox="1"/>
          <p:nvPr/>
        </p:nvSpPr>
        <p:spPr>
          <a:xfrm>
            <a:off x="5989320" y="1216152"/>
            <a:ext cx="5669280" cy="1325880"/>
          </a:xfrm>
          <a:prstGeom prst="rect">
            <a:avLst/>
          </a:prstGeom>
          <a:noFill/>
        </p:spPr>
        <p:txBody>
          <a:bodyPr wrap="square" anchor="ctr" lIns="36576" rIns="36576" tIns="36576" bIns="36576"/>
          <a:lstStyle/>
          <a:p>
            <a:pPr algn="l">
              <a:spcAft>
                <a:spcPts val="100"/>
              </a:spcAft>
            </a:pPr>
            <a:r>
              <a:rPr sz="1300" b="1" i="0">
                <a:solidFill>
                  <a:srgbClr val="A3242F"/>
                </a:solidFill>
                <a:latin typeface="Arial"/>
              </a:rPr>
              <a:t>Advanced Cloud Computing</a:t>
            </a:r>
            <a:r>
              <a:rPr sz="1300" b="0" i="0">
                <a:solidFill>
                  <a:srgbClr val="262626"/>
                </a:solidFill>
                <a:latin typeface="Arial"/>
              </a:rPr>
              <a:t> — Course Project</a:t>
            </a:r>
          </a:p>
          <a:p>
            <a:pPr algn="l">
              <a:spcAft>
                <a:spcPts val="100"/>
              </a:spcAft>
            </a:pPr>
            <a:r>
              <a:rPr sz="1300" b="0" i="0">
                <a:solidFill>
                  <a:srgbClr val="262626"/>
                </a:solidFill>
                <a:latin typeface="Arial"/>
              </a:rPr>
              <a:t>LY B.Tech Computer Engineering, Semester VII</a:t>
            </a:r>
          </a:p>
          <a:p>
            <a:pPr algn="l">
              <a:spcAft>
                <a:spcPts val="100"/>
              </a:spcAft>
            </a:pPr>
            <a:r>
              <a:rPr sz="1300" b="0" i="0">
                <a:solidFill>
                  <a:srgbClr val="262626"/>
                </a:solidFill>
                <a:latin typeface="Arial"/>
              </a:rPr>
              <a:t>Department of Computer Engineering, K J Somaiya School of Engineering</a:t>
            </a:r>
          </a:p>
          <a:p>
            <a:pPr algn="l">
              <a:spcAft>
                <a:spcPts val="100"/>
              </a:spcAft>
            </a:pPr>
            <a:r>
              <a:rPr sz="1300" b="0" i="0">
                <a:solidFill>
                  <a:srgbClr val="262626"/>
                </a:solidFill>
                <a:latin typeface="Arial"/>
              </a:rPr>
              <a:t>Faculty Guide: </a:t>
            </a:r>
            <a:r>
              <a:rPr sz="1300" b="0" i="1">
                <a:solidFill>
                  <a:srgbClr val="C00000"/>
                </a:solidFill>
                <a:latin typeface="Arial"/>
              </a:rPr>
              <a:t>[Faculty guide name]</a:t>
            </a:r>
          </a:p>
          <a:p>
            <a:pPr algn="l">
              <a:spcAft>
                <a:spcPts val="100"/>
              </a:spcAft>
            </a:pPr>
            <a:r>
              <a:rPr sz="1300" b="0" i="0">
                <a:solidFill>
                  <a:srgbClr val="262626"/>
                </a:solidFill>
                <a:latin typeface="Arial"/>
              </a:rPr>
              <a:t>Academic Year 2026–27</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5029200" y="2667000"/>
            <a:ext cx="2785745" cy="628377"/>
          </a:xfrm>
          <a:prstGeom prst="rect">
            <a:avLst/>
          </a:prstGeom>
        </p:spPr>
        <p:txBody>
          <a:bodyPr vert="horz" wrap="square" lIns="0" tIns="12700" rIns="0" bIns="0" rtlCol="0">
            <a:spAutoFit/>
          </a:bodyPr>
          <a:lstStyle/>
          <a:p>
            <a:pPr marL="12700">
              <a:lnSpc>
                <a:spcPct val="100000"/>
              </a:lnSpc>
              <a:spcBef>
                <a:spcPts val="100"/>
              </a:spcBef>
            </a:pPr>
            <a:r>
              <a:rPr sz="4000" spc="-320" dirty="0">
                <a:latin typeface="Times New Roman" panose="02020603050405020304" pitchFamily="18" charset="0"/>
                <a:cs typeface="Times New Roman" panose="02020603050405020304" pitchFamily="18" charset="0"/>
              </a:rPr>
              <a:t>Thank</a:t>
            </a:r>
            <a:r>
              <a:rPr sz="4000" spc="-155" dirty="0">
                <a:latin typeface="Times New Roman" panose="02020603050405020304" pitchFamily="18" charset="0"/>
                <a:cs typeface="Times New Roman" panose="02020603050405020304" pitchFamily="18" charset="0"/>
              </a:rPr>
              <a:t> </a:t>
            </a:r>
            <a:r>
              <a:rPr sz="4000" spc="-425" dirty="0">
                <a:latin typeface="Times New Roman" panose="02020603050405020304" pitchFamily="18" charset="0"/>
                <a:cs typeface="Times New Roman" panose="02020603050405020304" pitchFamily="18" charset="0"/>
              </a:rPr>
              <a:t>You</a:t>
            </a:r>
            <a:endParaRPr sz="4000" dirty="0">
              <a:latin typeface="Times New Roman" panose="02020603050405020304" pitchFamily="18" charset="0"/>
              <a:cs typeface="Times New Roman" panose="02020603050405020304" pitchFamily="18" charset="0"/>
            </a:endParaRPr>
          </a:p>
        </p:txBody>
      </p:sp>
      <p:sp>
        <p:nvSpPr>
          <p:cNvPr id="3" name="Slide Number"/>
          <p:cNvSpPr txBox="1"/>
          <p:nvPr/>
        </p:nvSpPr>
        <p:spPr>
          <a:xfrm>
            <a:off x="10850000" y="5996978"/>
            <a:ext cx="372000" cy="230000"/>
          </a:xfrm>
          <a:prstGeom prst="rect">
            <a:avLst/>
          </a:prstGeom>
          <a:noFill/>
        </p:spPr>
        <p:txBody>
          <a:bodyPr wrap="none" lIns="0" rIns="0" tIns="0" bIns="0">
            <a:spAutoFit/>
          </a:bodyPr>
          <a:lstStyle/>
          <a:p>
            <a:pPr algn="r"/>
            <a:fld id="{B6F15528-21DE-4FAA-801E-634DDDAF4B2B}" type="slidenum">
              <a:rPr lang="en-US" sz="1200">
                <a:solidFill>
                  <a:srgbClr val="3E3E3E"/>
                </a:solidFill>
                <a:latin typeface="Georgia"/>
              </a:rPr>
              <a:t>‹#›</a:t>
            </a:fld>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2819400" y="182880"/>
            <a:ext cx="7343775" cy="713232"/>
          </a:xfrm>
        </p:spPr>
        <p:txBody>
          <a:bodyPr wrap="square" anchor="ctr" lIns="0" rIns="0" tIns="0" bIns="0">
            <a:normAutofit/>
          </a:bodyPr>
          <a:lstStyle/>
          <a:p>
            <a:pPr algn="ctr"/>
            <a:r>
              <a:rPr sz="2800"/>
              <a:t>Abstract and Introduction</a:t>
            </a:r>
          </a:p>
        </p:txBody>
      </p:sp>
      <p:sp>
        <p:nvSpPr>
          <p:cNvPr id="3" name="Slide Number"/>
          <p:cNvSpPr txBox="1"/>
          <p:nvPr/>
        </p:nvSpPr>
        <p:spPr>
          <a:xfrm>
            <a:off x="10850000" y="5996978"/>
            <a:ext cx="372000" cy="230000"/>
          </a:xfrm>
          <a:prstGeom prst="rect">
            <a:avLst/>
          </a:prstGeom>
          <a:noFill/>
        </p:spPr>
        <p:txBody>
          <a:bodyPr wrap="none" lIns="0" rIns="0" tIns="0" bIns="0">
            <a:spAutoFit/>
          </a:bodyPr>
          <a:lstStyle/>
          <a:p>
            <a:pPr algn="r"/>
            <a:fld id="{B6F15528-21DE-4FAA-801E-634DDDAF4B2B}" type="slidenum">
              <a:rPr lang="en-US" sz="1200">
                <a:solidFill>
                  <a:srgbClr val="3E3E3E"/>
                </a:solidFill>
                <a:latin typeface="Georgia"/>
              </a:rPr>
              <a:t>‹#›</a:t>
            </a:fld>
          </a:p>
        </p:txBody>
      </p:sp>
      <p:sp>
        <p:nvSpPr>
          <p:cNvPr id="4" name="Rounded Rectangle 3"/>
          <p:cNvSpPr/>
          <p:nvPr/>
        </p:nvSpPr>
        <p:spPr>
          <a:xfrm>
            <a:off x="502920" y="1188720"/>
            <a:ext cx="6172200" cy="4526280"/>
          </a:xfrm>
          <a:prstGeom prst="roundRect">
            <a:avLst>
              <a:gd name="adj" fmla="val 6000"/>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731520" y="1325880"/>
            <a:ext cx="5760720" cy="411480"/>
          </a:xfrm>
          <a:prstGeom prst="rect">
            <a:avLst/>
          </a:prstGeom>
          <a:noFill/>
        </p:spPr>
        <p:txBody>
          <a:bodyPr wrap="square" anchor="t" lIns="36576" rIns="36576" tIns="36576" bIns="36576"/>
          <a:lstStyle/>
          <a:p>
            <a:pPr algn="l">
              <a:spcAft>
                <a:spcPts val="400"/>
              </a:spcAft>
            </a:pPr>
            <a:r>
              <a:rPr sz="1800" b="1" i="0">
                <a:solidFill>
                  <a:srgbClr val="A3242F"/>
                </a:solidFill>
                <a:latin typeface="Arial"/>
              </a:rPr>
              <a:t>Abstract</a:t>
            </a:r>
          </a:p>
        </p:txBody>
      </p:sp>
      <p:sp>
        <p:nvSpPr>
          <p:cNvPr id="6" name="TextBox 5"/>
          <p:cNvSpPr txBox="1"/>
          <p:nvPr/>
        </p:nvSpPr>
        <p:spPr>
          <a:xfrm>
            <a:off x="731520" y="1783080"/>
            <a:ext cx="5760720" cy="3840480"/>
          </a:xfrm>
          <a:prstGeom prst="rect">
            <a:avLst/>
          </a:prstGeom>
          <a:noFill/>
        </p:spPr>
        <p:txBody>
          <a:bodyPr wrap="square" anchor="t" lIns="36576" rIns="36576" tIns="36576" bIns="36576"/>
          <a:lstStyle/>
          <a:p>
            <a:pPr algn="l">
              <a:spcAft>
                <a:spcPts val="900"/>
              </a:spcAft>
            </a:pPr>
            <a:r>
              <a:rPr sz="1400" b="0" i="0">
                <a:solidFill>
                  <a:srgbClr val="262626"/>
                </a:solidFill>
                <a:latin typeface="Arial"/>
              </a:rPr>
              <a:t>Reading text documents and counting words, paragraphs and recurring terms by hand is slow, error-prone and hard to repeat across many files.</a:t>
            </a:r>
          </a:p>
          <a:p>
            <a:pPr algn="l">
              <a:spcAft>
                <a:spcPts val="900"/>
              </a:spcAft>
            </a:pPr>
            <a:r>
              <a:rPr sz="1400" b="0" i="0">
                <a:solidFill>
                  <a:srgbClr val="262626"/>
                </a:solidFill>
                <a:latin typeface="Arial"/>
              </a:rPr>
              <a:t>This project builds a serverless platform on AWS: a browser dashboard uploads a TXT file to a private Amazon S3 bucket, an S3 event invokes an AWS Lambda function that analyses the text, and the results are stored in Amazon DynamoDB and served back through an Amazon API Gateway HTTP API.</a:t>
            </a:r>
          </a:p>
          <a:p>
            <a:pPr algn="l">
              <a:spcAft>
                <a:spcPts val="900"/>
              </a:spcAft>
            </a:pPr>
            <a:r>
              <a:rPr sz="1400" b="0" i="0">
                <a:solidFill>
                  <a:srgbClr val="262626"/>
                </a:solidFill>
                <a:latin typeface="Arial"/>
              </a:rPr>
              <a:t>The prototype was deployed in ap-southeast-2 (Sydney) and processed sample documents end to end, returning word, character and paragraph counts and the top 10 keywords.</a:t>
            </a:r>
          </a:p>
        </p:txBody>
      </p:sp>
      <p:sp>
        <p:nvSpPr>
          <p:cNvPr id="7" name="TextBox 6"/>
          <p:cNvSpPr txBox="1"/>
          <p:nvPr/>
        </p:nvSpPr>
        <p:spPr>
          <a:xfrm>
            <a:off x="731520" y="4983480"/>
            <a:ext cx="5760720" cy="640080"/>
          </a:xfrm>
          <a:prstGeom prst="rect">
            <a:avLst/>
          </a:prstGeom>
          <a:noFill/>
        </p:spPr>
        <p:txBody>
          <a:bodyPr wrap="square" anchor="b" lIns="36576" rIns="36576" tIns="36576" bIns="36576"/>
          <a:lstStyle/>
          <a:p>
            <a:pPr algn="l">
              <a:spcAft>
                <a:spcPts val="0"/>
              </a:spcAft>
            </a:pPr>
            <a:r>
              <a:rPr sz="1200" b="1" i="0">
                <a:solidFill>
                  <a:srgbClr val="A3242F"/>
                </a:solidFill>
                <a:latin typeface="Arial"/>
              </a:rPr>
              <a:t>Keywords: </a:t>
            </a:r>
            <a:r>
              <a:rPr sz="1200" b="0" i="0">
                <a:solidFill>
                  <a:srgbClr val="595959"/>
                </a:solidFill>
                <a:latin typeface="Arial"/>
              </a:rPr>
              <a:t>serverless, AWS Lambda, Amazon S3, DynamoDB, API Gateway, event-driven processing, text analytics</a:t>
            </a:r>
          </a:p>
        </p:txBody>
      </p:sp>
      <p:sp>
        <p:nvSpPr>
          <p:cNvPr id="8" name="TextBox 7"/>
          <p:cNvSpPr txBox="1"/>
          <p:nvPr/>
        </p:nvSpPr>
        <p:spPr>
          <a:xfrm>
            <a:off x="6995160" y="1188720"/>
            <a:ext cx="4663440" cy="411480"/>
          </a:xfrm>
          <a:prstGeom prst="rect">
            <a:avLst/>
          </a:prstGeom>
          <a:noFill/>
        </p:spPr>
        <p:txBody>
          <a:bodyPr wrap="square" anchor="t" lIns="36576" rIns="36576" tIns="36576" bIns="36576"/>
          <a:lstStyle/>
          <a:p>
            <a:pPr algn="l">
              <a:spcAft>
                <a:spcPts val="400"/>
              </a:spcAft>
            </a:pPr>
            <a:r>
              <a:rPr sz="1800" b="1" i="0">
                <a:solidFill>
                  <a:srgbClr val="A3242F"/>
                </a:solidFill>
                <a:latin typeface="Arial"/>
              </a:rPr>
              <a:t>Intended benefits</a:t>
            </a:r>
          </a:p>
        </p:txBody>
      </p:sp>
      <p:sp>
        <p:nvSpPr>
          <p:cNvPr id="9" name="Rounded Rectangle 8"/>
          <p:cNvSpPr/>
          <p:nvPr/>
        </p:nvSpPr>
        <p:spPr>
          <a:xfrm>
            <a:off x="6995160" y="1691640"/>
            <a:ext cx="4663440" cy="868680"/>
          </a:xfrm>
          <a:prstGeom prst="roundRect">
            <a:avLst>
              <a:gd name="adj" fmla="val 6000"/>
            </a:avLst>
          </a:prstGeom>
          <a:solidFill>
            <a:srgbClr val="F8E9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7132320" y="1874520"/>
            <a:ext cx="502920" cy="502920"/>
          </a:xfrm>
          <a:prstGeom prst="ellipse">
            <a:avLst/>
          </a:prstGeom>
          <a:solidFill>
            <a:srgbClr val="A3242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200"/>
              </a:spcAft>
            </a:pPr>
            <a:r>
              <a:rPr sz="1300" b="1" i="0">
                <a:solidFill>
                  <a:srgbClr val="FFFFFF"/>
                </a:solidFill>
                <a:latin typeface="Arial"/>
              </a:rPr>
              <a:t>1</a:t>
            </a:r>
          </a:p>
        </p:txBody>
      </p:sp>
      <p:sp>
        <p:nvSpPr>
          <p:cNvPr id="11" name="TextBox 10"/>
          <p:cNvSpPr txBox="1"/>
          <p:nvPr/>
        </p:nvSpPr>
        <p:spPr>
          <a:xfrm>
            <a:off x="7772400" y="1764792"/>
            <a:ext cx="3794760" cy="777240"/>
          </a:xfrm>
          <a:prstGeom prst="rect">
            <a:avLst/>
          </a:prstGeom>
          <a:noFill/>
        </p:spPr>
        <p:txBody>
          <a:bodyPr wrap="square" anchor="ctr" lIns="36576" rIns="36576" tIns="36576" bIns="36576"/>
          <a:lstStyle/>
          <a:p>
            <a:pPr algn="l">
              <a:spcAft>
                <a:spcPts val="100"/>
              </a:spcAft>
            </a:pPr>
            <a:r>
              <a:rPr sz="1500" b="1" i="0">
                <a:solidFill>
                  <a:srgbClr val="262626"/>
                </a:solidFill>
                <a:latin typeface="Arial"/>
              </a:rPr>
              <a:t>No servers to manage</a:t>
            </a:r>
          </a:p>
          <a:p>
            <a:pPr algn="l">
              <a:spcAft>
                <a:spcPts val="100"/>
              </a:spcAft>
            </a:pPr>
            <a:r>
              <a:rPr sz="1300" b="0" i="0">
                <a:solidFill>
                  <a:srgbClr val="262626"/>
                </a:solidFill>
                <a:latin typeface="Arial"/>
              </a:rPr>
              <a:t>No EC2 instances to patch; AWS runs the compute.</a:t>
            </a:r>
          </a:p>
        </p:txBody>
      </p:sp>
      <p:sp>
        <p:nvSpPr>
          <p:cNvPr id="12" name="Rounded Rectangle 11"/>
          <p:cNvSpPr/>
          <p:nvPr/>
        </p:nvSpPr>
        <p:spPr>
          <a:xfrm>
            <a:off x="6995160" y="2697480"/>
            <a:ext cx="4663440" cy="868680"/>
          </a:xfrm>
          <a:prstGeom prst="roundRect">
            <a:avLst>
              <a:gd name="adj" fmla="val 6000"/>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7132320" y="2880360"/>
            <a:ext cx="502920" cy="502920"/>
          </a:xfrm>
          <a:prstGeom prst="ellipse">
            <a:avLst/>
          </a:prstGeom>
          <a:solidFill>
            <a:srgbClr val="A3242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200"/>
              </a:spcAft>
            </a:pPr>
            <a:r>
              <a:rPr sz="1300" b="1" i="0">
                <a:solidFill>
                  <a:srgbClr val="FFFFFF"/>
                </a:solidFill>
                <a:latin typeface="Arial"/>
              </a:rPr>
              <a:t>2</a:t>
            </a:r>
          </a:p>
        </p:txBody>
      </p:sp>
      <p:sp>
        <p:nvSpPr>
          <p:cNvPr id="14" name="TextBox 13"/>
          <p:cNvSpPr txBox="1"/>
          <p:nvPr/>
        </p:nvSpPr>
        <p:spPr>
          <a:xfrm>
            <a:off x="7772400" y="2770632"/>
            <a:ext cx="3794760" cy="777240"/>
          </a:xfrm>
          <a:prstGeom prst="rect">
            <a:avLst/>
          </a:prstGeom>
          <a:noFill/>
        </p:spPr>
        <p:txBody>
          <a:bodyPr wrap="square" anchor="ctr" lIns="36576" rIns="36576" tIns="36576" bIns="36576"/>
          <a:lstStyle/>
          <a:p>
            <a:pPr algn="l">
              <a:spcAft>
                <a:spcPts val="100"/>
              </a:spcAft>
            </a:pPr>
            <a:r>
              <a:rPr sz="1500" b="1" i="0">
                <a:solidFill>
                  <a:srgbClr val="262626"/>
                </a:solidFill>
                <a:latin typeface="Arial"/>
              </a:rPr>
              <a:t>Automated processing</a:t>
            </a:r>
          </a:p>
          <a:p>
            <a:pPr algn="l">
              <a:spcAft>
                <a:spcPts val="100"/>
              </a:spcAft>
            </a:pPr>
            <a:r>
              <a:rPr sz="1300" b="0" i="0">
                <a:solidFill>
                  <a:srgbClr val="262626"/>
                </a:solidFill>
                <a:latin typeface="Arial"/>
              </a:rPr>
              <a:t>Each upload triggers analysis with no manual step.</a:t>
            </a:r>
          </a:p>
        </p:txBody>
      </p:sp>
      <p:sp>
        <p:nvSpPr>
          <p:cNvPr id="15" name="Rounded Rectangle 14"/>
          <p:cNvSpPr/>
          <p:nvPr/>
        </p:nvSpPr>
        <p:spPr>
          <a:xfrm>
            <a:off x="6995160" y="3703320"/>
            <a:ext cx="4663440" cy="868680"/>
          </a:xfrm>
          <a:prstGeom prst="roundRect">
            <a:avLst>
              <a:gd name="adj" fmla="val 6000"/>
            </a:avLst>
          </a:prstGeom>
          <a:solidFill>
            <a:srgbClr val="F8E9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Oval 15"/>
          <p:cNvSpPr/>
          <p:nvPr/>
        </p:nvSpPr>
        <p:spPr>
          <a:xfrm>
            <a:off x="7132320" y="3886200"/>
            <a:ext cx="502920" cy="502920"/>
          </a:xfrm>
          <a:prstGeom prst="ellipse">
            <a:avLst/>
          </a:prstGeom>
          <a:solidFill>
            <a:srgbClr val="A3242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200"/>
              </a:spcAft>
            </a:pPr>
            <a:r>
              <a:rPr sz="1300" b="1" i="0">
                <a:solidFill>
                  <a:srgbClr val="FFFFFF"/>
                </a:solidFill>
                <a:latin typeface="Arial"/>
              </a:rPr>
              <a:t>3</a:t>
            </a:r>
          </a:p>
        </p:txBody>
      </p:sp>
      <p:sp>
        <p:nvSpPr>
          <p:cNvPr id="17" name="TextBox 16"/>
          <p:cNvSpPr txBox="1"/>
          <p:nvPr/>
        </p:nvSpPr>
        <p:spPr>
          <a:xfrm>
            <a:off x="7772400" y="3776472"/>
            <a:ext cx="3794760" cy="777240"/>
          </a:xfrm>
          <a:prstGeom prst="rect">
            <a:avLst/>
          </a:prstGeom>
          <a:noFill/>
        </p:spPr>
        <p:txBody>
          <a:bodyPr wrap="square" anchor="ctr" lIns="36576" rIns="36576" tIns="36576" bIns="36576"/>
          <a:lstStyle/>
          <a:p>
            <a:pPr algn="l">
              <a:spcAft>
                <a:spcPts val="100"/>
              </a:spcAft>
            </a:pPr>
            <a:r>
              <a:rPr sz="1500" b="1" i="0">
                <a:solidFill>
                  <a:srgbClr val="262626"/>
                </a:solidFill>
                <a:latin typeface="Arial"/>
              </a:rPr>
              <a:t>Scales with demand</a:t>
            </a:r>
          </a:p>
          <a:p>
            <a:pPr algn="l">
              <a:spcAft>
                <a:spcPts val="100"/>
              </a:spcAft>
            </a:pPr>
            <a:r>
              <a:rPr sz="1300" b="0" i="0">
                <a:solidFill>
                  <a:srgbClr val="262626"/>
                </a:solidFill>
                <a:latin typeface="Arial"/>
              </a:rPr>
              <a:t>Lambda runs one invocation per event, as needed.</a:t>
            </a:r>
          </a:p>
        </p:txBody>
      </p:sp>
      <p:sp>
        <p:nvSpPr>
          <p:cNvPr id="18" name="Rounded Rectangle 17"/>
          <p:cNvSpPr/>
          <p:nvPr/>
        </p:nvSpPr>
        <p:spPr>
          <a:xfrm>
            <a:off x="6995160" y="4709160"/>
            <a:ext cx="4663440" cy="868680"/>
          </a:xfrm>
          <a:prstGeom prst="roundRect">
            <a:avLst>
              <a:gd name="adj" fmla="val 6000"/>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7132320" y="4892040"/>
            <a:ext cx="502920" cy="502920"/>
          </a:xfrm>
          <a:prstGeom prst="ellipse">
            <a:avLst/>
          </a:prstGeom>
          <a:solidFill>
            <a:srgbClr val="A3242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200"/>
              </a:spcAft>
            </a:pPr>
            <a:r>
              <a:rPr sz="1300" b="1" i="0">
                <a:solidFill>
                  <a:srgbClr val="FFFFFF"/>
                </a:solidFill>
                <a:latin typeface="Arial"/>
              </a:rPr>
              <a:t>4</a:t>
            </a:r>
          </a:p>
        </p:txBody>
      </p:sp>
      <p:sp>
        <p:nvSpPr>
          <p:cNvPr id="20" name="TextBox 19"/>
          <p:cNvSpPr txBox="1"/>
          <p:nvPr/>
        </p:nvSpPr>
        <p:spPr>
          <a:xfrm>
            <a:off x="7772400" y="4782312"/>
            <a:ext cx="3794760" cy="777240"/>
          </a:xfrm>
          <a:prstGeom prst="rect">
            <a:avLst/>
          </a:prstGeom>
          <a:noFill/>
        </p:spPr>
        <p:txBody>
          <a:bodyPr wrap="square" anchor="ctr" lIns="36576" rIns="36576" tIns="36576" bIns="36576"/>
          <a:lstStyle/>
          <a:p>
            <a:pPr algn="l">
              <a:spcAft>
                <a:spcPts val="100"/>
              </a:spcAft>
            </a:pPr>
            <a:r>
              <a:rPr sz="1500" b="1" i="0">
                <a:solidFill>
                  <a:srgbClr val="262626"/>
                </a:solidFill>
                <a:latin typeface="Arial"/>
              </a:rPr>
              <a:t>Convenient analytics</a:t>
            </a:r>
          </a:p>
          <a:p>
            <a:pPr algn="l">
              <a:spcAft>
                <a:spcPts val="100"/>
              </a:spcAft>
            </a:pPr>
            <a:r>
              <a:rPr sz="1300" b="0" i="0">
                <a:solidFill>
                  <a:srgbClr val="262626"/>
                </a:solidFill>
                <a:latin typeface="Arial"/>
              </a:rPr>
              <a:t>Results are kept in DynamoDB and viewed in the dashboard.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2819400" y="182880"/>
            <a:ext cx="7343775" cy="713232"/>
          </a:xfrm>
        </p:spPr>
        <p:txBody>
          <a:bodyPr wrap="square" anchor="ctr" lIns="0" rIns="0" tIns="0" bIns="0">
            <a:normAutofit/>
          </a:bodyPr>
          <a:lstStyle/>
          <a:p>
            <a:pPr algn="ctr"/>
            <a:r>
              <a:rPr sz="2800"/>
              <a:t>Problem Statement and Objectives</a:t>
            </a:r>
          </a:p>
        </p:txBody>
      </p:sp>
      <p:sp>
        <p:nvSpPr>
          <p:cNvPr id="3" name="Slide Number"/>
          <p:cNvSpPr txBox="1"/>
          <p:nvPr/>
        </p:nvSpPr>
        <p:spPr>
          <a:xfrm>
            <a:off x="10850000" y="5996978"/>
            <a:ext cx="372000" cy="230000"/>
          </a:xfrm>
          <a:prstGeom prst="rect">
            <a:avLst/>
          </a:prstGeom>
          <a:noFill/>
        </p:spPr>
        <p:txBody>
          <a:bodyPr wrap="none" lIns="0" rIns="0" tIns="0" bIns="0">
            <a:spAutoFit/>
          </a:bodyPr>
          <a:lstStyle/>
          <a:p>
            <a:pPr algn="r"/>
            <a:fld id="{B6F15528-21DE-4FAA-801E-634DDDAF4B2B}" type="slidenum">
              <a:rPr lang="en-US" sz="1200">
                <a:solidFill>
                  <a:srgbClr val="3E3E3E"/>
                </a:solidFill>
                <a:latin typeface="Georgia"/>
              </a:rPr>
              <a:t>‹#›</a:t>
            </a:fld>
          </a:p>
        </p:txBody>
      </p:sp>
      <p:sp>
        <p:nvSpPr>
          <p:cNvPr id="4" name="TextBox 3"/>
          <p:cNvSpPr txBox="1"/>
          <p:nvPr/>
        </p:nvSpPr>
        <p:spPr>
          <a:xfrm>
            <a:off x="502920" y="1188720"/>
            <a:ext cx="5120640" cy="411480"/>
          </a:xfrm>
          <a:prstGeom prst="rect">
            <a:avLst/>
          </a:prstGeom>
          <a:noFill/>
        </p:spPr>
        <p:txBody>
          <a:bodyPr wrap="square" anchor="t" lIns="36576" rIns="36576" tIns="36576" bIns="36576"/>
          <a:lstStyle/>
          <a:p>
            <a:pPr algn="l">
              <a:spcAft>
                <a:spcPts val="400"/>
              </a:spcAft>
            </a:pPr>
            <a:r>
              <a:rPr sz="1800" b="1" i="0">
                <a:solidFill>
                  <a:srgbClr val="A3242F"/>
                </a:solidFill>
                <a:latin typeface="Arial"/>
              </a:rPr>
              <a:t>Limitations of manual analysis</a:t>
            </a:r>
          </a:p>
        </p:txBody>
      </p:sp>
      <p:sp>
        <p:nvSpPr>
          <p:cNvPr id="5" name="Rounded Rectangle 4"/>
          <p:cNvSpPr/>
          <p:nvPr/>
        </p:nvSpPr>
        <p:spPr>
          <a:xfrm>
            <a:off x="502920" y="1691640"/>
            <a:ext cx="5120640" cy="868680"/>
          </a:xfrm>
          <a:prstGeom prst="roundRect">
            <a:avLst>
              <a:gd name="adj" fmla="val 6000"/>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85800" y="1737360"/>
            <a:ext cx="4800600" cy="777240"/>
          </a:xfrm>
          <a:prstGeom prst="rect">
            <a:avLst/>
          </a:prstGeom>
          <a:noFill/>
        </p:spPr>
        <p:txBody>
          <a:bodyPr wrap="square" anchor="ctr" lIns="36576" rIns="36576" tIns="36576" bIns="36576"/>
          <a:lstStyle/>
          <a:p>
            <a:pPr algn="l">
              <a:spcAft>
                <a:spcPts val="100"/>
              </a:spcAft>
            </a:pPr>
            <a:r>
              <a:rPr sz="1500" b="1" i="0">
                <a:solidFill>
                  <a:srgbClr val="A3242F"/>
                </a:solidFill>
                <a:latin typeface="Arial"/>
              </a:rPr>
              <a:t>Slow</a:t>
            </a:r>
          </a:p>
          <a:p>
            <a:pPr algn="l">
              <a:spcAft>
                <a:spcPts val="100"/>
              </a:spcAft>
            </a:pPr>
            <a:r>
              <a:rPr sz="1300" b="0" i="0">
                <a:solidFill>
                  <a:srgbClr val="262626"/>
                </a:solidFill>
                <a:latin typeface="Arial"/>
              </a:rPr>
              <a:t>Counting words, paragraphs and keywords by hand takes time for every file.</a:t>
            </a:r>
          </a:p>
        </p:txBody>
      </p:sp>
      <p:sp>
        <p:nvSpPr>
          <p:cNvPr id="7" name="Rounded Rectangle 6"/>
          <p:cNvSpPr/>
          <p:nvPr/>
        </p:nvSpPr>
        <p:spPr>
          <a:xfrm>
            <a:off x="502920" y="2697480"/>
            <a:ext cx="5120640" cy="868680"/>
          </a:xfrm>
          <a:prstGeom prst="roundRect">
            <a:avLst>
              <a:gd name="adj" fmla="val 6000"/>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685800" y="2743200"/>
            <a:ext cx="4800600" cy="777240"/>
          </a:xfrm>
          <a:prstGeom prst="rect">
            <a:avLst/>
          </a:prstGeom>
          <a:noFill/>
        </p:spPr>
        <p:txBody>
          <a:bodyPr wrap="square" anchor="ctr" lIns="36576" rIns="36576" tIns="36576" bIns="36576"/>
          <a:lstStyle/>
          <a:p>
            <a:pPr algn="l">
              <a:spcAft>
                <a:spcPts val="100"/>
              </a:spcAft>
            </a:pPr>
            <a:r>
              <a:rPr sz="1500" b="1" i="0">
                <a:solidFill>
                  <a:srgbClr val="A3242F"/>
                </a:solidFill>
                <a:latin typeface="Arial"/>
              </a:rPr>
              <a:t>Inconsistent</a:t>
            </a:r>
          </a:p>
          <a:p>
            <a:pPr algn="l">
              <a:spcAft>
                <a:spcPts val="100"/>
              </a:spcAft>
            </a:pPr>
            <a:r>
              <a:rPr sz="1300" b="0" i="0">
                <a:solidFill>
                  <a:srgbClr val="262626"/>
                </a:solidFill>
                <a:latin typeface="Arial"/>
              </a:rPr>
              <a:t>Different people count differently; results cannot be reproduced.</a:t>
            </a:r>
          </a:p>
        </p:txBody>
      </p:sp>
      <p:sp>
        <p:nvSpPr>
          <p:cNvPr id="9" name="Rounded Rectangle 8"/>
          <p:cNvSpPr/>
          <p:nvPr/>
        </p:nvSpPr>
        <p:spPr>
          <a:xfrm>
            <a:off x="502920" y="3703320"/>
            <a:ext cx="5120640" cy="868680"/>
          </a:xfrm>
          <a:prstGeom prst="roundRect">
            <a:avLst>
              <a:gd name="adj" fmla="val 6000"/>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85800" y="3749040"/>
            <a:ext cx="4800600" cy="777240"/>
          </a:xfrm>
          <a:prstGeom prst="rect">
            <a:avLst/>
          </a:prstGeom>
          <a:noFill/>
        </p:spPr>
        <p:txBody>
          <a:bodyPr wrap="square" anchor="ctr" lIns="36576" rIns="36576" tIns="36576" bIns="36576"/>
          <a:lstStyle/>
          <a:p>
            <a:pPr algn="l">
              <a:spcAft>
                <a:spcPts val="100"/>
              </a:spcAft>
            </a:pPr>
            <a:r>
              <a:rPr sz="1500" b="1" i="0">
                <a:solidFill>
                  <a:srgbClr val="A3242F"/>
                </a:solidFill>
                <a:latin typeface="Arial"/>
              </a:rPr>
              <a:t>Not stored</a:t>
            </a:r>
          </a:p>
          <a:p>
            <a:pPr algn="l">
              <a:spcAft>
                <a:spcPts val="100"/>
              </a:spcAft>
            </a:pPr>
            <a:r>
              <a:rPr sz="1300" b="0" i="0">
                <a:solidFill>
                  <a:srgbClr val="262626"/>
                </a:solidFill>
                <a:latin typeface="Arial"/>
              </a:rPr>
              <a:t>Results live in notes or spreadsheets, not in a searchable record.</a:t>
            </a:r>
          </a:p>
        </p:txBody>
      </p:sp>
      <p:sp>
        <p:nvSpPr>
          <p:cNvPr id="11" name="Rounded Rectangle 10"/>
          <p:cNvSpPr/>
          <p:nvPr/>
        </p:nvSpPr>
        <p:spPr>
          <a:xfrm>
            <a:off x="502920" y="4709160"/>
            <a:ext cx="5120640" cy="868680"/>
          </a:xfrm>
          <a:prstGeom prst="roundRect">
            <a:avLst>
              <a:gd name="adj" fmla="val 6000"/>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685800" y="4754880"/>
            <a:ext cx="4800600" cy="777240"/>
          </a:xfrm>
          <a:prstGeom prst="rect">
            <a:avLst/>
          </a:prstGeom>
          <a:noFill/>
        </p:spPr>
        <p:txBody>
          <a:bodyPr wrap="square" anchor="ctr" lIns="36576" rIns="36576" tIns="36576" bIns="36576"/>
          <a:lstStyle/>
          <a:p>
            <a:pPr algn="l">
              <a:spcAft>
                <a:spcPts val="100"/>
              </a:spcAft>
            </a:pPr>
            <a:r>
              <a:rPr sz="1500" b="1" i="0">
                <a:solidFill>
                  <a:srgbClr val="A3242F"/>
                </a:solidFill>
                <a:latin typeface="Arial"/>
              </a:rPr>
              <a:t>No single view</a:t>
            </a:r>
          </a:p>
          <a:p>
            <a:pPr algn="l">
              <a:spcAft>
                <a:spcPts val="100"/>
              </a:spcAft>
            </a:pPr>
            <a:r>
              <a:rPr sz="1300" b="0" i="0">
                <a:solidFill>
                  <a:srgbClr val="262626"/>
                </a:solidFill>
                <a:latin typeface="Arial"/>
              </a:rPr>
              <a:t>There is no one place to upload files and see their analytics.</a:t>
            </a:r>
          </a:p>
        </p:txBody>
      </p:sp>
      <p:sp>
        <p:nvSpPr>
          <p:cNvPr id="13" name="TextBox 12"/>
          <p:cNvSpPr txBox="1"/>
          <p:nvPr/>
        </p:nvSpPr>
        <p:spPr>
          <a:xfrm>
            <a:off x="6080760" y="1188720"/>
            <a:ext cx="5577840" cy="411480"/>
          </a:xfrm>
          <a:prstGeom prst="rect">
            <a:avLst/>
          </a:prstGeom>
          <a:noFill/>
        </p:spPr>
        <p:txBody>
          <a:bodyPr wrap="square" anchor="t" lIns="36576" rIns="36576" tIns="36576" bIns="36576"/>
          <a:lstStyle/>
          <a:p>
            <a:pPr algn="l">
              <a:spcAft>
                <a:spcPts val="400"/>
              </a:spcAft>
            </a:pPr>
            <a:r>
              <a:rPr sz="1800" b="1" i="0">
                <a:solidFill>
                  <a:srgbClr val="A3242F"/>
                </a:solidFill>
                <a:latin typeface="Arial"/>
              </a:rPr>
              <a:t>Objectives</a:t>
            </a:r>
          </a:p>
        </p:txBody>
      </p:sp>
      <p:sp>
        <p:nvSpPr>
          <p:cNvPr id="14" name="Oval 13"/>
          <p:cNvSpPr/>
          <p:nvPr/>
        </p:nvSpPr>
        <p:spPr>
          <a:xfrm>
            <a:off x="6080760" y="1801368"/>
            <a:ext cx="457200" cy="457200"/>
          </a:xfrm>
          <a:prstGeom prst="ellipse">
            <a:avLst/>
          </a:prstGeom>
          <a:solidFill>
            <a:srgbClr val="A3242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200"/>
              </a:spcAft>
            </a:pPr>
            <a:r>
              <a:rPr sz="1200" b="1" i="0">
                <a:solidFill>
                  <a:srgbClr val="FFFFFF"/>
                </a:solidFill>
                <a:latin typeface="Arial"/>
              </a:rPr>
              <a:t>O1</a:t>
            </a:r>
          </a:p>
        </p:txBody>
      </p:sp>
      <p:sp>
        <p:nvSpPr>
          <p:cNvPr id="15" name="TextBox 14"/>
          <p:cNvSpPr txBox="1"/>
          <p:nvPr/>
        </p:nvSpPr>
        <p:spPr>
          <a:xfrm>
            <a:off x="6675120" y="1691640"/>
            <a:ext cx="4983480" cy="777240"/>
          </a:xfrm>
          <a:prstGeom prst="rect">
            <a:avLst/>
          </a:prstGeom>
          <a:noFill/>
        </p:spPr>
        <p:txBody>
          <a:bodyPr wrap="square" anchor="ctr" lIns="36576" rIns="36576" tIns="36576" bIns="36576"/>
          <a:lstStyle/>
          <a:p>
            <a:pPr algn="l">
              <a:spcAft>
                <a:spcPts val="0"/>
              </a:spcAft>
            </a:pPr>
            <a:r>
              <a:rPr sz="1500" b="1" i="0">
                <a:solidFill>
                  <a:srgbClr val="262626"/>
                </a:solidFill>
                <a:latin typeface="Arial"/>
              </a:rPr>
              <a:t>Automated TXT processing</a:t>
            </a:r>
          </a:p>
          <a:p>
            <a:pPr algn="l">
              <a:spcAft>
                <a:spcPts val="0"/>
              </a:spcAft>
            </a:pPr>
            <a:r>
              <a:rPr sz="1300" b="0" i="0">
                <a:solidFill>
                  <a:srgbClr val="262626"/>
                </a:solidFill>
                <a:latin typeface="Arial"/>
              </a:rPr>
              <a:t>Analyse every .txt file (≤ 1 MB) placed under incoming/ without manual action.</a:t>
            </a:r>
          </a:p>
        </p:txBody>
      </p:sp>
      <p:sp>
        <p:nvSpPr>
          <p:cNvPr id="16" name="Oval 15"/>
          <p:cNvSpPr/>
          <p:nvPr/>
        </p:nvSpPr>
        <p:spPr>
          <a:xfrm>
            <a:off x="6080760" y="2606040"/>
            <a:ext cx="457200" cy="457200"/>
          </a:xfrm>
          <a:prstGeom prst="ellipse">
            <a:avLst/>
          </a:prstGeom>
          <a:solidFill>
            <a:srgbClr val="A3242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200"/>
              </a:spcAft>
            </a:pPr>
            <a:r>
              <a:rPr sz="1200" b="1" i="0">
                <a:solidFill>
                  <a:srgbClr val="FFFFFF"/>
                </a:solidFill>
                <a:latin typeface="Arial"/>
              </a:rPr>
              <a:t>O2</a:t>
            </a:r>
          </a:p>
        </p:txBody>
      </p:sp>
      <p:sp>
        <p:nvSpPr>
          <p:cNvPr id="17" name="TextBox 16"/>
          <p:cNvSpPr txBox="1"/>
          <p:nvPr/>
        </p:nvSpPr>
        <p:spPr>
          <a:xfrm>
            <a:off x="6675120" y="2496312"/>
            <a:ext cx="4983480" cy="777240"/>
          </a:xfrm>
          <a:prstGeom prst="rect">
            <a:avLst/>
          </a:prstGeom>
          <a:noFill/>
        </p:spPr>
        <p:txBody>
          <a:bodyPr wrap="square" anchor="ctr" lIns="36576" rIns="36576" tIns="36576" bIns="36576"/>
          <a:lstStyle/>
          <a:p>
            <a:pPr algn="l">
              <a:spcAft>
                <a:spcPts val="0"/>
              </a:spcAft>
            </a:pPr>
            <a:r>
              <a:rPr sz="1500" b="1" i="0">
                <a:solidFill>
                  <a:srgbClr val="262626"/>
                </a:solidFill>
                <a:latin typeface="Arial"/>
              </a:rPr>
              <a:t>Document analytics</a:t>
            </a:r>
          </a:p>
          <a:p>
            <a:pPr algn="l">
              <a:spcAft>
                <a:spcPts val="0"/>
              </a:spcAft>
            </a:pPr>
            <a:r>
              <a:rPr sz="1300" b="0" i="0">
                <a:solidFill>
                  <a:srgbClr val="262626"/>
                </a:solidFill>
                <a:latin typeface="Arial"/>
              </a:rPr>
              <a:t>Word, character and paragraph counts plus the top 10 keywords with frequencies.</a:t>
            </a:r>
          </a:p>
        </p:txBody>
      </p:sp>
      <p:sp>
        <p:nvSpPr>
          <p:cNvPr id="18" name="Oval 17"/>
          <p:cNvSpPr/>
          <p:nvPr/>
        </p:nvSpPr>
        <p:spPr>
          <a:xfrm>
            <a:off x="6080760" y="3410712"/>
            <a:ext cx="457200" cy="457200"/>
          </a:xfrm>
          <a:prstGeom prst="ellipse">
            <a:avLst/>
          </a:prstGeom>
          <a:solidFill>
            <a:srgbClr val="A3242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200"/>
              </a:spcAft>
            </a:pPr>
            <a:r>
              <a:rPr sz="1200" b="1" i="0">
                <a:solidFill>
                  <a:srgbClr val="FFFFFF"/>
                </a:solidFill>
                <a:latin typeface="Arial"/>
              </a:rPr>
              <a:t>O3</a:t>
            </a:r>
          </a:p>
        </p:txBody>
      </p:sp>
      <p:sp>
        <p:nvSpPr>
          <p:cNvPr id="19" name="TextBox 18"/>
          <p:cNvSpPr txBox="1"/>
          <p:nvPr/>
        </p:nvSpPr>
        <p:spPr>
          <a:xfrm>
            <a:off x="6675120" y="3300984"/>
            <a:ext cx="4983480" cy="777240"/>
          </a:xfrm>
          <a:prstGeom prst="rect">
            <a:avLst/>
          </a:prstGeom>
          <a:noFill/>
        </p:spPr>
        <p:txBody>
          <a:bodyPr wrap="square" anchor="ctr" lIns="36576" rIns="36576" tIns="36576" bIns="36576"/>
          <a:lstStyle/>
          <a:p>
            <a:pPr algn="l">
              <a:spcAft>
                <a:spcPts val="0"/>
              </a:spcAft>
            </a:pPr>
            <a:r>
              <a:rPr sz="1500" b="1" i="0">
                <a:solidFill>
                  <a:srgbClr val="262626"/>
                </a:solidFill>
                <a:latin typeface="Arial"/>
              </a:rPr>
              <a:t>Persistent storage</a:t>
            </a:r>
          </a:p>
          <a:p>
            <a:pPr algn="l">
              <a:spcAft>
                <a:spcPts val="0"/>
              </a:spcAft>
            </a:pPr>
            <a:r>
              <a:rPr sz="1300" b="0" i="0">
                <a:solidFill>
                  <a:srgbClr val="262626"/>
                </a:solidFill>
                <a:latin typeface="Arial"/>
              </a:rPr>
              <a:t>One DynamoDB item per document holding status and analytics.</a:t>
            </a:r>
          </a:p>
        </p:txBody>
      </p:sp>
      <p:sp>
        <p:nvSpPr>
          <p:cNvPr id="20" name="Oval 19"/>
          <p:cNvSpPr/>
          <p:nvPr/>
        </p:nvSpPr>
        <p:spPr>
          <a:xfrm>
            <a:off x="6080760" y="4215384"/>
            <a:ext cx="457200" cy="457200"/>
          </a:xfrm>
          <a:prstGeom prst="ellipse">
            <a:avLst/>
          </a:prstGeom>
          <a:solidFill>
            <a:srgbClr val="A3242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200"/>
              </a:spcAft>
            </a:pPr>
            <a:r>
              <a:rPr sz="1200" b="1" i="0">
                <a:solidFill>
                  <a:srgbClr val="FFFFFF"/>
                </a:solidFill>
                <a:latin typeface="Arial"/>
              </a:rPr>
              <a:t>O4</a:t>
            </a:r>
          </a:p>
        </p:txBody>
      </p:sp>
      <p:sp>
        <p:nvSpPr>
          <p:cNvPr id="21" name="TextBox 20"/>
          <p:cNvSpPr txBox="1"/>
          <p:nvPr/>
        </p:nvSpPr>
        <p:spPr>
          <a:xfrm>
            <a:off x="6675120" y="4105656"/>
            <a:ext cx="4983480" cy="777240"/>
          </a:xfrm>
          <a:prstGeom prst="rect">
            <a:avLst/>
          </a:prstGeom>
          <a:noFill/>
        </p:spPr>
        <p:txBody>
          <a:bodyPr wrap="square" anchor="ctr" lIns="36576" rIns="36576" tIns="36576" bIns="36576"/>
          <a:lstStyle/>
          <a:p>
            <a:pPr algn="l">
              <a:spcAft>
                <a:spcPts val="0"/>
              </a:spcAft>
            </a:pPr>
            <a:r>
              <a:rPr sz="1500" b="1" i="0">
                <a:solidFill>
                  <a:srgbClr val="262626"/>
                </a:solidFill>
                <a:latin typeface="Arial"/>
              </a:rPr>
              <a:t>REST-style access</a:t>
            </a:r>
          </a:p>
          <a:p>
            <a:pPr algn="l">
              <a:spcAft>
                <a:spcPts val="0"/>
              </a:spcAft>
            </a:pPr>
            <a:r>
              <a:rPr sz="1300" b="0" i="0">
                <a:solidFill>
                  <a:srgbClr val="262626"/>
                </a:solidFill>
                <a:latin typeface="Arial"/>
              </a:rPr>
              <a:t>Three HTTP API routes: POST /uploads, GET /documents, GET /documents/{documentId}.</a:t>
            </a:r>
          </a:p>
        </p:txBody>
      </p:sp>
      <p:sp>
        <p:nvSpPr>
          <p:cNvPr id="22" name="Oval 21"/>
          <p:cNvSpPr/>
          <p:nvPr/>
        </p:nvSpPr>
        <p:spPr>
          <a:xfrm>
            <a:off x="6080760" y="5020056"/>
            <a:ext cx="457200" cy="457200"/>
          </a:xfrm>
          <a:prstGeom prst="ellipse">
            <a:avLst/>
          </a:prstGeom>
          <a:solidFill>
            <a:srgbClr val="A3242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200"/>
              </a:spcAft>
            </a:pPr>
            <a:r>
              <a:rPr sz="1200" b="1" i="0">
                <a:solidFill>
                  <a:srgbClr val="FFFFFF"/>
                </a:solidFill>
                <a:latin typeface="Arial"/>
              </a:rPr>
              <a:t>O5</a:t>
            </a:r>
          </a:p>
        </p:txBody>
      </p:sp>
      <p:sp>
        <p:nvSpPr>
          <p:cNvPr id="23" name="TextBox 22"/>
          <p:cNvSpPr txBox="1"/>
          <p:nvPr/>
        </p:nvSpPr>
        <p:spPr>
          <a:xfrm>
            <a:off x="6675120" y="4910328"/>
            <a:ext cx="4983480" cy="777240"/>
          </a:xfrm>
          <a:prstGeom prst="rect">
            <a:avLst/>
          </a:prstGeom>
          <a:noFill/>
        </p:spPr>
        <p:txBody>
          <a:bodyPr wrap="square" anchor="ctr" lIns="36576" rIns="36576" tIns="36576" bIns="36576"/>
          <a:lstStyle/>
          <a:p>
            <a:pPr algn="l">
              <a:spcAft>
                <a:spcPts val="0"/>
              </a:spcAft>
            </a:pPr>
            <a:r>
              <a:rPr sz="1500" b="1" i="0">
                <a:solidFill>
                  <a:srgbClr val="262626"/>
                </a:solidFill>
                <a:latin typeface="Arial"/>
              </a:rPr>
              <a:t>Dashboard access</a:t>
            </a:r>
          </a:p>
          <a:p>
            <a:pPr algn="l">
              <a:spcAft>
                <a:spcPts val="0"/>
              </a:spcAft>
            </a:pPr>
            <a:r>
              <a:rPr sz="1300" b="0" i="0">
                <a:solidFill>
                  <a:srgbClr val="262626"/>
                </a:solidFill>
                <a:latin typeface="Arial"/>
              </a:rPr>
              <a:t>Upload, list, view details and track status from a browser.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2819400" y="182880"/>
            <a:ext cx="7343775" cy="713232"/>
          </a:xfrm>
        </p:spPr>
        <p:txBody>
          <a:bodyPr wrap="square" anchor="ctr" lIns="0" rIns="0" tIns="0" bIns="0">
            <a:normAutofit/>
          </a:bodyPr>
          <a:lstStyle/>
          <a:p>
            <a:pPr algn="ctr"/>
            <a:r>
              <a:rPr sz="2800"/>
              <a:t>Proposed Solution</a:t>
            </a:r>
          </a:p>
        </p:txBody>
      </p:sp>
      <p:sp>
        <p:nvSpPr>
          <p:cNvPr id="3" name="Slide Number"/>
          <p:cNvSpPr txBox="1"/>
          <p:nvPr/>
        </p:nvSpPr>
        <p:spPr>
          <a:xfrm>
            <a:off x="10850000" y="5996978"/>
            <a:ext cx="372000" cy="230000"/>
          </a:xfrm>
          <a:prstGeom prst="rect">
            <a:avLst/>
          </a:prstGeom>
          <a:noFill/>
        </p:spPr>
        <p:txBody>
          <a:bodyPr wrap="none" lIns="0" rIns="0" tIns="0" bIns="0">
            <a:spAutoFit/>
          </a:bodyPr>
          <a:lstStyle/>
          <a:p>
            <a:pPr algn="r"/>
            <a:fld id="{B6F15528-21DE-4FAA-801E-634DDDAF4B2B}" type="slidenum">
              <a:rPr lang="en-US" sz="1200">
                <a:solidFill>
                  <a:srgbClr val="3E3E3E"/>
                </a:solidFill>
                <a:latin typeface="Georgia"/>
              </a:rPr>
              <a:t>‹#›</a:t>
            </a:fld>
          </a:p>
        </p:txBody>
      </p:sp>
      <p:sp>
        <p:nvSpPr>
          <p:cNvPr id="4" name="Rounded Rectangle 3"/>
          <p:cNvSpPr/>
          <p:nvPr/>
        </p:nvSpPr>
        <p:spPr>
          <a:xfrm>
            <a:off x="502920" y="1325880"/>
            <a:ext cx="2057400" cy="2697480"/>
          </a:xfrm>
          <a:prstGeom prst="roundRect">
            <a:avLst>
              <a:gd name="adj" fmla="val 6000"/>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1257300" y="1481328"/>
            <a:ext cx="548640" cy="548640"/>
          </a:xfrm>
          <a:prstGeom prst="ellipse">
            <a:avLst/>
          </a:prstGeom>
          <a:solidFill>
            <a:srgbClr val="A3242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200"/>
              </a:spcAft>
            </a:pPr>
            <a:r>
              <a:rPr sz="1500" b="1" i="0">
                <a:solidFill>
                  <a:srgbClr val="FFFFFF"/>
                </a:solidFill>
                <a:latin typeface="Arial"/>
              </a:rPr>
              <a:t>1</a:t>
            </a:r>
          </a:p>
        </p:txBody>
      </p:sp>
      <p:sp>
        <p:nvSpPr>
          <p:cNvPr id="6" name="TextBox 5"/>
          <p:cNvSpPr txBox="1"/>
          <p:nvPr/>
        </p:nvSpPr>
        <p:spPr>
          <a:xfrm>
            <a:off x="612648" y="2121408"/>
            <a:ext cx="1837943" cy="411480"/>
          </a:xfrm>
          <a:prstGeom prst="rect">
            <a:avLst/>
          </a:prstGeom>
          <a:noFill/>
        </p:spPr>
        <p:txBody>
          <a:bodyPr wrap="square" anchor="t" lIns="36576" rIns="36576" tIns="36576" bIns="36576"/>
          <a:lstStyle/>
          <a:p>
            <a:pPr algn="ctr">
              <a:spcAft>
                <a:spcPts val="400"/>
              </a:spcAft>
            </a:pPr>
            <a:r>
              <a:rPr sz="1700" b="1" i="0">
                <a:solidFill>
                  <a:srgbClr val="A3242F"/>
                </a:solidFill>
                <a:latin typeface="Arial"/>
              </a:rPr>
              <a:t>Upload</a:t>
            </a:r>
          </a:p>
        </p:txBody>
      </p:sp>
      <p:sp>
        <p:nvSpPr>
          <p:cNvPr id="7" name="TextBox 6"/>
          <p:cNvSpPr txBox="1"/>
          <p:nvPr/>
        </p:nvSpPr>
        <p:spPr>
          <a:xfrm>
            <a:off x="612648" y="2560320"/>
            <a:ext cx="1837943" cy="1417320"/>
          </a:xfrm>
          <a:prstGeom prst="rect">
            <a:avLst/>
          </a:prstGeom>
          <a:noFill/>
        </p:spPr>
        <p:txBody>
          <a:bodyPr wrap="square" anchor="t" lIns="36576" rIns="36576" tIns="36576" bIns="36576"/>
          <a:lstStyle/>
          <a:p>
            <a:pPr algn="ctr">
              <a:spcAft>
                <a:spcPts val="400"/>
              </a:spcAft>
            </a:pPr>
            <a:r>
              <a:rPr sz="1300" b="0" i="0">
                <a:solidFill>
                  <a:srgbClr val="262626"/>
                </a:solidFill>
                <a:latin typeface="Arial"/>
              </a:rPr>
              <a:t>User selects a .txt file in the dashboard; the API returns a presigned upload URL.</a:t>
            </a:r>
          </a:p>
        </p:txBody>
      </p:sp>
      <p:cxnSp>
        <p:nvCxnSpPr>
          <p:cNvPr id="8" name="Connector 7"/>
          <p:cNvCxnSpPr/>
          <p:nvPr/>
        </p:nvCxnSpPr>
        <p:spPr>
          <a:xfrm>
            <a:off x="2578608" y="2670048"/>
            <a:ext cx="192024" cy="0"/>
          </a:xfrm>
          <a:prstGeom prst="line">
            <a:avLst/>
          </a:prstGeom>
          <a:ln w="22225">
            <a:solidFill>
              <a:srgbClr val="595959"/>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2788920" y="1325880"/>
            <a:ext cx="2057400" cy="2697480"/>
          </a:xfrm>
          <a:prstGeom prst="roundRect">
            <a:avLst>
              <a:gd name="adj" fmla="val 6000"/>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3543300" y="1481328"/>
            <a:ext cx="548640" cy="548640"/>
          </a:xfrm>
          <a:prstGeom prst="ellipse">
            <a:avLst/>
          </a:prstGeom>
          <a:solidFill>
            <a:srgbClr val="A3242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200"/>
              </a:spcAft>
            </a:pPr>
            <a:r>
              <a:rPr sz="1500" b="1" i="0">
                <a:solidFill>
                  <a:srgbClr val="FFFFFF"/>
                </a:solidFill>
                <a:latin typeface="Arial"/>
              </a:rPr>
              <a:t>2</a:t>
            </a:r>
          </a:p>
        </p:txBody>
      </p:sp>
      <p:sp>
        <p:nvSpPr>
          <p:cNvPr id="11" name="TextBox 10"/>
          <p:cNvSpPr txBox="1"/>
          <p:nvPr/>
        </p:nvSpPr>
        <p:spPr>
          <a:xfrm>
            <a:off x="2898648" y="2121408"/>
            <a:ext cx="1837943" cy="411480"/>
          </a:xfrm>
          <a:prstGeom prst="rect">
            <a:avLst/>
          </a:prstGeom>
          <a:noFill/>
        </p:spPr>
        <p:txBody>
          <a:bodyPr wrap="square" anchor="t" lIns="36576" rIns="36576" tIns="36576" bIns="36576"/>
          <a:lstStyle/>
          <a:p>
            <a:pPr algn="ctr">
              <a:spcAft>
                <a:spcPts val="400"/>
              </a:spcAft>
            </a:pPr>
            <a:r>
              <a:rPr sz="1700" b="1" i="0">
                <a:solidFill>
                  <a:srgbClr val="A3242F"/>
                </a:solidFill>
                <a:latin typeface="Arial"/>
              </a:rPr>
              <a:t>Store</a:t>
            </a:r>
          </a:p>
        </p:txBody>
      </p:sp>
      <p:sp>
        <p:nvSpPr>
          <p:cNvPr id="12" name="TextBox 11"/>
          <p:cNvSpPr txBox="1"/>
          <p:nvPr/>
        </p:nvSpPr>
        <p:spPr>
          <a:xfrm>
            <a:off x="2898648" y="2560320"/>
            <a:ext cx="1837943" cy="1417320"/>
          </a:xfrm>
          <a:prstGeom prst="rect">
            <a:avLst/>
          </a:prstGeom>
          <a:noFill/>
        </p:spPr>
        <p:txBody>
          <a:bodyPr wrap="square" anchor="t" lIns="36576" rIns="36576" tIns="36576" bIns="36576"/>
          <a:lstStyle/>
          <a:p>
            <a:pPr algn="ctr">
              <a:spcAft>
                <a:spcPts val="400"/>
              </a:spcAft>
            </a:pPr>
            <a:r>
              <a:rPr sz="1300" b="0" i="0">
                <a:solidFill>
                  <a:srgbClr val="262626"/>
                </a:solidFill>
                <a:latin typeface="Arial"/>
              </a:rPr>
              <a:t>Browser PUTs the file straight to the private S3 bucket under the incoming/ prefix.</a:t>
            </a:r>
          </a:p>
        </p:txBody>
      </p:sp>
      <p:cxnSp>
        <p:nvCxnSpPr>
          <p:cNvPr id="13" name="Connector 12"/>
          <p:cNvCxnSpPr/>
          <p:nvPr/>
        </p:nvCxnSpPr>
        <p:spPr>
          <a:xfrm>
            <a:off x="4864607" y="2670048"/>
            <a:ext cx="192025" cy="0"/>
          </a:xfrm>
          <a:prstGeom prst="line">
            <a:avLst/>
          </a:prstGeom>
          <a:ln w="22225">
            <a:solidFill>
              <a:srgbClr val="595959"/>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5074920" y="1325880"/>
            <a:ext cx="2057400" cy="2697480"/>
          </a:xfrm>
          <a:prstGeom prst="roundRect">
            <a:avLst>
              <a:gd name="adj" fmla="val 6000"/>
            </a:avLst>
          </a:prstGeom>
          <a:solidFill>
            <a:srgbClr val="E6EE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Oval 14"/>
          <p:cNvSpPr/>
          <p:nvPr/>
        </p:nvSpPr>
        <p:spPr>
          <a:xfrm>
            <a:off x="5829300" y="1481328"/>
            <a:ext cx="548640" cy="548640"/>
          </a:xfrm>
          <a:prstGeom prst="ellipse">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200"/>
              </a:spcAft>
            </a:pPr>
            <a:r>
              <a:rPr sz="1500" b="1" i="0">
                <a:solidFill>
                  <a:srgbClr val="FFFFFF"/>
                </a:solidFill>
                <a:latin typeface="Arial"/>
              </a:rPr>
              <a:t>3</a:t>
            </a:r>
          </a:p>
        </p:txBody>
      </p:sp>
      <p:sp>
        <p:nvSpPr>
          <p:cNvPr id="16" name="TextBox 15"/>
          <p:cNvSpPr txBox="1"/>
          <p:nvPr/>
        </p:nvSpPr>
        <p:spPr>
          <a:xfrm>
            <a:off x="5184648" y="2121408"/>
            <a:ext cx="1837943" cy="411480"/>
          </a:xfrm>
          <a:prstGeom prst="rect">
            <a:avLst/>
          </a:prstGeom>
          <a:noFill/>
        </p:spPr>
        <p:txBody>
          <a:bodyPr wrap="square" anchor="t" lIns="36576" rIns="36576" tIns="36576" bIns="36576"/>
          <a:lstStyle/>
          <a:p>
            <a:pPr algn="ctr">
              <a:spcAft>
                <a:spcPts val="400"/>
              </a:spcAft>
            </a:pPr>
            <a:r>
              <a:rPr sz="1700" b="1" i="0">
                <a:solidFill>
                  <a:srgbClr val="1F4E79"/>
                </a:solidFill>
                <a:latin typeface="Arial"/>
              </a:rPr>
              <a:t>Analyse</a:t>
            </a:r>
          </a:p>
        </p:txBody>
      </p:sp>
      <p:sp>
        <p:nvSpPr>
          <p:cNvPr id="17" name="TextBox 16"/>
          <p:cNvSpPr txBox="1"/>
          <p:nvPr/>
        </p:nvSpPr>
        <p:spPr>
          <a:xfrm>
            <a:off x="5184648" y="2560320"/>
            <a:ext cx="1837943" cy="1417320"/>
          </a:xfrm>
          <a:prstGeom prst="rect">
            <a:avLst/>
          </a:prstGeom>
          <a:noFill/>
        </p:spPr>
        <p:txBody>
          <a:bodyPr wrap="square" anchor="t" lIns="36576" rIns="36576" tIns="36576" bIns="36576"/>
          <a:lstStyle/>
          <a:p>
            <a:pPr algn="ctr">
              <a:spcAft>
                <a:spcPts val="400"/>
              </a:spcAft>
            </a:pPr>
            <a:r>
              <a:rPr sz="1300" b="0" i="0">
                <a:solidFill>
                  <a:srgbClr val="262626"/>
                </a:solidFill>
                <a:latin typeface="Arial"/>
              </a:rPr>
              <a:t>The S3 ObjectCreated event invokes DocumentProcessor, which reads and analyses the text.</a:t>
            </a:r>
          </a:p>
        </p:txBody>
      </p:sp>
      <p:cxnSp>
        <p:nvCxnSpPr>
          <p:cNvPr id="18" name="Connector 17"/>
          <p:cNvCxnSpPr/>
          <p:nvPr/>
        </p:nvCxnSpPr>
        <p:spPr>
          <a:xfrm>
            <a:off x="7150607" y="2670048"/>
            <a:ext cx="192025" cy="0"/>
          </a:xfrm>
          <a:prstGeom prst="line">
            <a:avLst/>
          </a:prstGeom>
          <a:ln w="22225">
            <a:solidFill>
              <a:srgbClr val="595959"/>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7360920" y="1325880"/>
            <a:ext cx="2057400" cy="2697480"/>
          </a:xfrm>
          <a:prstGeom prst="roundRect">
            <a:avLst>
              <a:gd name="adj" fmla="val 6000"/>
            </a:avLst>
          </a:prstGeom>
          <a:solidFill>
            <a:srgbClr val="E6EE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8115300" y="1481328"/>
            <a:ext cx="548640" cy="548640"/>
          </a:xfrm>
          <a:prstGeom prst="ellipse">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200"/>
              </a:spcAft>
            </a:pPr>
            <a:r>
              <a:rPr sz="1500" b="1" i="0">
                <a:solidFill>
                  <a:srgbClr val="FFFFFF"/>
                </a:solidFill>
                <a:latin typeface="Arial"/>
              </a:rPr>
              <a:t>4</a:t>
            </a:r>
          </a:p>
        </p:txBody>
      </p:sp>
      <p:sp>
        <p:nvSpPr>
          <p:cNvPr id="21" name="TextBox 20"/>
          <p:cNvSpPr txBox="1"/>
          <p:nvPr/>
        </p:nvSpPr>
        <p:spPr>
          <a:xfrm>
            <a:off x="7470648" y="2121408"/>
            <a:ext cx="1837943" cy="411480"/>
          </a:xfrm>
          <a:prstGeom prst="rect">
            <a:avLst/>
          </a:prstGeom>
          <a:noFill/>
        </p:spPr>
        <p:txBody>
          <a:bodyPr wrap="square" anchor="t" lIns="36576" rIns="36576" tIns="36576" bIns="36576"/>
          <a:lstStyle/>
          <a:p>
            <a:pPr algn="ctr">
              <a:spcAft>
                <a:spcPts val="400"/>
              </a:spcAft>
            </a:pPr>
            <a:r>
              <a:rPr sz="1700" b="1" i="0">
                <a:solidFill>
                  <a:srgbClr val="1F4E79"/>
                </a:solidFill>
                <a:latin typeface="Arial"/>
              </a:rPr>
              <a:t>Persist</a:t>
            </a:r>
          </a:p>
        </p:txBody>
      </p:sp>
      <p:sp>
        <p:nvSpPr>
          <p:cNvPr id="22" name="TextBox 21"/>
          <p:cNvSpPr txBox="1"/>
          <p:nvPr/>
        </p:nvSpPr>
        <p:spPr>
          <a:xfrm>
            <a:off x="7470648" y="2560320"/>
            <a:ext cx="1837943" cy="1417320"/>
          </a:xfrm>
          <a:prstGeom prst="rect">
            <a:avLst/>
          </a:prstGeom>
          <a:noFill/>
        </p:spPr>
        <p:txBody>
          <a:bodyPr wrap="square" anchor="t" lIns="36576" rIns="36576" tIns="36576" bIns="36576"/>
          <a:lstStyle/>
          <a:p>
            <a:pPr algn="ctr">
              <a:spcAft>
                <a:spcPts val="400"/>
              </a:spcAft>
            </a:pPr>
            <a:r>
              <a:rPr sz="1300" b="0" i="0">
                <a:solidFill>
                  <a:srgbClr val="262626"/>
                </a:solidFill>
                <a:latin typeface="Arial"/>
              </a:rPr>
              <a:t>Analytics and status are written to the DocumentAnalyticsV3 table in DynamoDB.</a:t>
            </a:r>
          </a:p>
        </p:txBody>
      </p:sp>
      <p:cxnSp>
        <p:nvCxnSpPr>
          <p:cNvPr id="23" name="Connector 22"/>
          <p:cNvCxnSpPr/>
          <p:nvPr/>
        </p:nvCxnSpPr>
        <p:spPr>
          <a:xfrm>
            <a:off x="9436608" y="2670048"/>
            <a:ext cx="192024" cy="0"/>
          </a:xfrm>
          <a:prstGeom prst="line">
            <a:avLst/>
          </a:prstGeom>
          <a:ln w="22225">
            <a:solidFill>
              <a:srgbClr val="595959"/>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9646920" y="1325880"/>
            <a:ext cx="2057400" cy="2697480"/>
          </a:xfrm>
          <a:prstGeom prst="roundRect">
            <a:avLst>
              <a:gd name="adj" fmla="val 6000"/>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Oval 24"/>
          <p:cNvSpPr/>
          <p:nvPr/>
        </p:nvSpPr>
        <p:spPr>
          <a:xfrm>
            <a:off x="10401300" y="1481328"/>
            <a:ext cx="548640" cy="548640"/>
          </a:xfrm>
          <a:prstGeom prst="ellipse">
            <a:avLst/>
          </a:prstGeom>
          <a:solidFill>
            <a:srgbClr val="A3242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200"/>
              </a:spcAft>
            </a:pPr>
            <a:r>
              <a:rPr sz="1500" b="1" i="0">
                <a:solidFill>
                  <a:srgbClr val="FFFFFF"/>
                </a:solidFill>
                <a:latin typeface="Arial"/>
              </a:rPr>
              <a:t>5</a:t>
            </a:r>
          </a:p>
        </p:txBody>
      </p:sp>
      <p:sp>
        <p:nvSpPr>
          <p:cNvPr id="26" name="TextBox 25"/>
          <p:cNvSpPr txBox="1"/>
          <p:nvPr/>
        </p:nvSpPr>
        <p:spPr>
          <a:xfrm>
            <a:off x="9756648" y="2121408"/>
            <a:ext cx="1837943" cy="411480"/>
          </a:xfrm>
          <a:prstGeom prst="rect">
            <a:avLst/>
          </a:prstGeom>
          <a:noFill/>
        </p:spPr>
        <p:txBody>
          <a:bodyPr wrap="square" anchor="t" lIns="36576" rIns="36576" tIns="36576" bIns="36576"/>
          <a:lstStyle/>
          <a:p>
            <a:pPr algn="ctr">
              <a:spcAft>
                <a:spcPts val="400"/>
              </a:spcAft>
            </a:pPr>
            <a:r>
              <a:rPr sz="1700" b="1" i="0">
                <a:solidFill>
                  <a:srgbClr val="A3242F"/>
                </a:solidFill>
                <a:latin typeface="Arial"/>
              </a:rPr>
              <a:t>Display</a:t>
            </a:r>
          </a:p>
        </p:txBody>
      </p:sp>
      <p:sp>
        <p:nvSpPr>
          <p:cNvPr id="27" name="TextBox 26"/>
          <p:cNvSpPr txBox="1"/>
          <p:nvPr/>
        </p:nvSpPr>
        <p:spPr>
          <a:xfrm>
            <a:off x="9756648" y="2560320"/>
            <a:ext cx="1837943" cy="1417320"/>
          </a:xfrm>
          <a:prstGeom prst="rect">
            <a:avLst/>
          </a:prstGeom>
          <a:noFill/>
        </p:spPr>
        <p:txBody>
          <a:bodyPr wrap="square" anchor="t" lIns="36576" rIns="36576" tIns="36576" bIns="36576"/>
          <a:lstStyle/>
          <a:p>
            <a:pPr algn="ctr">
              <a:spcAft>
                <a:spcPts val="400"/>
              </a:spcAft>
            </a:pPr>
            <a:r>
              <a:rPr sz="1300" b="0" i="0">
                <a:solidFill>
                  <a:srgbClr val="262626"/>
                </a:solidFill>
                <a:latin typeface="Arial"/>
              </a:rPr>
              <a:t>The dashboard reads records through GET /documents and shows the analytics.</a:t>
            </a:r>
          </a:p>
        </p:txBody>
      </p:sp>
      <p:sp>
        <p:nvSpPr>
          <p:cNvPr id="28" name="Rounded Rectangle 27"/>
          <p:cNvSpPr/>
          <p:nvPr/>
        </p:nvSpPr>
        <p:spPr>
          <a:xfrm>
            <a:off x="502920" y="4297680"/>
            <a:ext cx="3657600" cy="1463040"/>
          </a:xfrm>
          <a:prstGeom prst="roundRect">
            <a:avLst>
              <a:gd name="adj" fmla="val 6000"/>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685800" y="4370832"/>
            <a:ext cx="3337560" cy="1325880"/>
          </a:xfrm>
          <a:prstGeom prst="rect">
            <a:avLst/>
          </a:prstGeom>
          <a:noFill/>
        </p:spPr>
        <p:txBody>
          <a:bodyPr wrap="square" anchor="ctr" lIns="36576" rIns="36576" tIns="36576" bIns="36576"/>
          <a:lstStyle/>
          <a:p>
            <a:pPr algn="l">
              <a:spcAft>
                <a:spcPts val="400"/>
              </a:spcAft>
            </a:pPr>
            <a:r>
              <a:rPr sz="1500" b="1" i="0">
                <a:solidFill>
                  <a:srgbClr val="A3242F"/>
                </a:solidFill>
                <a:latin typeface="Arial"/>
              </a:rPr>
              <a:t>User-driven (synchronous)</a:t>
            </a:r>
          </a:p>
          <a:p>
            <a:pPr algn="l">
              <a:spcAft>
                <a:spcPts val="400"/>
              </a:spcAft>
            </a:pPr>
            <a:r>
              <a:rPr sz="1300" b="0" i="0">
                <a:solidFill>
                  <a:srgbClr val="262626"/>
                </a:solidFill>
                <a:latin typeface="Arial"/>
              </a:rPr>
              <a:t>Steps 1, 2, 5: request → response between the browser, API Gateway, DocumentApi and S3.</a:t>
            </a:r>
          </a:p>
        </p:txBody>
      </p:sp>
      <p:sp>
        <p:nvSpPr>
          <p:cNvPr id="30" name="Rounded Rectangle 29"/>
          <p:cNvSpPr/>
          <p:nvPr/>
        </p:nvSpPr>
        <p:spPr>
          <a:xfrm>
            <a:off x="4343400" y="4297680"/>
            <a:ext cx="3657600" cy="1463040"/>
          </a:xfrm>
          <a:prstGeom prst="roundRect">
            <a:avLst>
              <a:gd name="adj" fmla="val 6000"/>
            </a:avLst>
          </a:prstGeom>
          <a:solidFill>
            <a:srgbClr val="E6EE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4526280" y="4370832"/>
            <a:ext cx="3337560" cy="1325880"/>
          </a:xfrm>
          <a:prstGeom prst="rect">
            <a:avLst/>
          </a:prstGeom>
          <a:noFill/>
        </p:spPr>
        <p:txBody>
          <a:bodyPr wrap="square" anchor="ctr" lIns="36576" rIns="36576" tIns="36576" bIns="36576"/>
          <a:lstStyle/>
          <a:p>
            <a:pPr algn="l">
              <a:spcAft>
                <a:spcPts val="400"/>
              </a:spcAft>
            </a:pPr>
            <a:r>
              <a:rPr sz="1500" b="1" i="0">
                <a:solidFill>
                  <a:srgbClr val="1F4E79"/>
                </a:solidFill>
                <a:latin typeface="Arial"/>
              </a:rPr>
              <a:t>Event-driven (asynchronous)</a:t>
            </a:r>
          </a:p>
          <a:p>
            <a:pPr algn="l">
              <a:spcAft>
                <a:spcPts val="400"/>
              </a:spcAft>
            </a:pPr>
            <a:r>
              <a:rPr sz="1300" b="0" i="0">
                <a:solidFill>
                  <a:srgbClr val="262626"/>
                </a:solidFill>
                <a:latin typeface="Arial"/>
              </a:rPr>
              <a:t>Steps 3, 4: S3 invokes DocumentProcessor; no user action or polling server is needed.</a:t>
            </a:r>
          </a:p>
        </p:txBody>
      </p:sp>
      <p:sp>
        <p:nvSpPr>
          <p:cNvPr id="32" name="Rounded Rectangle 31"/>
          <p:cNvSpPr/>
          <p:nvPr/>
        </p:nvSpPr>
        <p:spPr>
          <a:xfrm>
            <a:off x="8183879" y="4297680"/>
            <a:ext cx="3520440" cy="1463040"/>
          </a:xfrm>
          <a:prstGeom prst="roundRect">
            <a:avLst>
              <a:gd name="adj" fmla="val 6000"/>
            </a:avLst>
          </a:prstGeom>
          <a:solidFill>
            <a:srgbClr val="F8E9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8366760" y="4370832"/>
            <a:ext cx="3200400" cy="1325880"/>
          </a:xfrm>
          <a:prstGeom prst="rect">
            <a:avLst/>
          </a:prstGeom>
          <a:noFill/>
        </p:spPr>
        <p:txBody>
          <a:bodyPr wrap="square" anchor="ctr" lIns="36576" rIns="36576" tIns="36576" bIns="36576"/>
          <a:lstStyle/>
          <a:p>
            <a:pPr algn="l">
              <a:spcAft>
                <a:spcPts val="400"/>
              </a:spcAft>
            </a:pPr>
            <a:r>
              <a:rPr sz="1500" b="1" i="0">
                <a:solidFill>
                  <a:srgbClr val="A3242F"/>
                </a:solidFill>
                <a:latin typeface="Arial"/>
              </a:rPr>
              <a:t>One ID end to end</a:t>
            </a:r>
          </a:p>
          <a:p>
            <a:pPr algn="l">
              <a:spcAft>
                <a:spcPts val="400"/>
              </a:spcAft>
            </a:pPr>
            <a:r>
              <a:rPr sz="1300" b="0" i="0">
                <a:solidFill>
                  <a:srgbClr val="262626"/>
                </a:solidFill>
                <a:latin typeface="Arial"/>
              </a:rPr>
              <a:t>documentId links the API record, the S3 key incoming/&lt;documentId&gt;.txt and the DynamoDB item.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2819400" y="182880"/>
            <a:ext cx="7343775" cy="713232"/>
          </a:xfrm>
        </p:spPr>
        <p:txBody>
          <a:bodyPr wrap="square" anchor="ctr" lIns="0" rIns="0" tIns="0" bIns="0">
            <a:normAutofit/>
          </a:bodyPr>
          <a:lstStyle/>
          <a:p>
            <a:pPr algn="ctr"/>
            <a:r>
              <a:rPr sz="2800"/>
              <a:t>AWS Architecture</a:t>
            </a:r>
          </a:p>
        </p:txBody>
      </p:sp>
      <p:sp>
        <p:nvSpPr>
          <p:cNvPr id="3" name="Slide Number"/>
          <p:cNvSpPr txBox="1"/>
          <p:nvPr/>
        </p:nvSpPr>
        <p:spPr>
          <a:xfrm>
            <a:off x="10850000" y="5996978"/>
            <a:ext cx="372000" cy="230000"/>
          </a:xfrm>
          <a:prstGeom prst="rect">
            <a:avLst/>
          </a:prstGeom>
          <a:noFill/>
        </p:spPr>
        <p:txBody>
          <a:bodyPr wrap="none" lIns="0" rIns="0" tIns="0" bIns="0">
            <a:spAutoFit/>
          </a:bodyPr>
          <a:lstStyle/>
          <a:p>
            <a:pPr algn="r"/>
            <a:fld id="{B6F15528-21DE-4FAA-801E-634DDDAF4B2B}" type="slidenum">
              <a:rPr lang="en-US" sz="1200">
                <a:solidFill>
                  <a:srgbClr val="3E3E3E"/>
                </a:solidFill>
                <a:latin typeface="Georgia"/>
              </a:rPr>
              <a:t>‹#›</a:t>
            </a:fld>
          </a:p>
        </p:txBody>
      </p:sp>
      <p:sp>
        <p:nvSpPr>
          <p:cNvPr id="4" name="Browser"/>
          <p:cNvSpPr/>
          <p:nvPr/>
        </p:nvSpPr>
        <p:spPr>
          <a:xfrm>
            <a:off x="502920" y="2514600"/>
            <a:ext cx="1783080" cy="1325880"/>
          </a:xfrm>
          <a:prstGeom prst="roundRect">
            <a:avLst>
              <a:gd name="adj" fmla="val 6000"/>
            </a:avLst>
          </a:prstGeom>
          <a:solidFill>
            <a:srgbClr val="FFFFFF"/>
          </a:solidFill>
          <a:ln w="15875">
            <a:solidFill>
              <a:srgbClr val="A3242F"/>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spcAft>
                <a:spcPts val="0"/>
              </a:spcAft>
            </a:pPr>
            <a:r>
              <a:rPr sz="1100" b="0" i="0">
                <a:solidFill>
                  <a:srgbClr val="595959"/>
                </a:solidFill>
                <a:latin typeface="Arial"/>
              </a:rPr>
              <a:t>Client</a:t>
            </a:r>
          </a:p>
          <a:p>
            <a:pPr algn="ctr">
              <a:spcAft>
                <a:spcPts val="0"/>
              </a:spcAft>
            </a:pPr>
            <a:r>
              <a:rPr sz="1400" b="1" i="0">
                <a:solidFill>
                  <a:srgbClr val="262626"/>
                </a:solidFill>
                <a:latin typeface="Arial"/>
              </a:rPr>
              <a:t>Browser frontend</a:t>
            </a:r>
          </a:p>
          <a:p>
            <a:pPr algn="ctr">
              <a:spcAft>
                <a:spcPts val="0"/>
              </a:spcAft>
            </a:pPr>
            <a:r>
              <a:rPr sz="1100" b="0" i="0">
                <a:solidFill>
                  <a:srgbClr val="595959"/>
                </a:solidFill>
                <a:latin typeface="Arial"/>
              </a:rPr>
              <a:t>HTML · CSS · JavaScript</a:t>
            </a:r>
          </a:p>
        </p:txBody>
      </p:sp>
      <p:sp>
        <p:nvSpPr>
          <p:cNvPr id="5" name="API Gateway"/>
          <p:cNvSpPr/>
          <p:nvPr/>
        </p:nvSpPr>
        <p:spPr>
          <a:xfrm>
            <a:off x="2971800" y="1188720"/>
            <a:ext cx="2057400" cy="960120"/>
          </a:xfrm>
          <a:prstGeom prst="roundRect">
            <a:avLst>
              <a:gd name="adj" fmla="val 6000"/>
            </a:avLst>
          </a:prstGeom>
          <a:solidFill>
            <a:srgbClr val="FFFFFF"/>
          </a:solidFill>
          <a:ln w="15875">
            <a:solidFill>
              <a:srgbClr val="A3242F"/>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spcAft>
                <a:spcPts val="0"/>
              </a:spcAft>
            </a:pPr>
            <a:r>
              <a:rPr sz="1100" b="0" i="0">
                <a:solidFill>
                  <a:srgbClr val="595959"/>
                </a:solidFill>
                <a:latin typeface="Arial"/>
              </a:rPr>
              <a:t>Amazon API Gateway</a:t>
            </a:r>
          </a:p>
          <a:p>
            <a:pPr algn="ctr">
              <a:spcAft>
                <a:spcPts val="0"/>
              </a:spcAft>
            </a:pPr>
            <a:r>
              <a:rPr sz="1400" b="1" i="0">
                <a:solidFill>
                  <a:srgbClr val="262626"/>
                </a:solidFill>
                <a:latin typeface="Arial"/>
              </a:rPr>
              <a:t>HTTP API</a:t>
            </a:r>
          </a:p>
          <a:p>
            <a:pPr algn="ctr">
              <a:spcAft>
                <a:spcPts val="0"/>
              </a:spcAft>
            </a:pPr>
            <a:r>
              <a:rPr sz="1100" b="0" i="0">
                <a:solidFill>
                  <a:srgbClr val="595959"/>
                </a:solidFill>
                <a:latin typeface="Arial"/>
              </a:rPr>
              <a:t>DocumentAnalyticsAPI</a:t>
            </a:r>
          </a:p>
        </p:txBody>
      </p:sp>
      <p:sp>
        <p:nvSpPr>
          <p:cNvPr id="6" name="DocumentApi"/>
          <p:cNvSpPr/>
          <p:nvPr/>
        </p:nvSpPr>
        <p:spPr>
          <a:xfrm>
            <a:off x="6172200" y="1188720"/>
            <a:ext cx="2103120" cy="960120"/>
          </a:xfrm>
          <a:prstGeom prst="roundRect">
            <a:avLst>
              <a:gd name="adj" fmla="val 6000"/>
            </a:avLst>
          </a:prstGeom>
          <a:solidFill>
            <a:srgbClr val="FFFFFF"/>
          </a:solidFill>
          <a:ln w="15875">
            <a:solidFill>
              <a:srgbClr val="A3242F"/>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spcAft>
                <a:spcPts val="0"/>
              </a:spcAft>
            </a:pPr>
            <a:r>
              <a:rPr sz="1100" b="0" i="0">
                <a:solidFill>
                  <a:srgbClr val="595959"/>
                </a:solidFill>
                <a:latin typeface="Arial"/>
              </a:rPr>
              <a:t>AWS Lambda</a:t>
            </a:r>
          </a:p>
          <a:p>
            <a:pPr algn="ctr">
              <a:spcAft>
                <a:spcPts val="0"/>
              </a:spcAft>
            </a:pPr>
            <a:r>
              <a:rPr sz="1400" b="1" i="0">
                <a:solidFill>
                  <a:srgbClr val="262626"/>
                </a:solidFill>
                <a:latin typeface="Arial"/>
              </a:rPr>
              <a:t>DocumentApi</a:t>
            </a:r>
          </a:p>
          <a:p>
            <a:pPr algn="ctr">
              <a:spcAft>
                <a:spcPts val="0"/>
              </a:spcAft>
            </a:pPr>
            <a:r>
              <a:rPr sz="1100" b="0" i="0">
                <a:solidFill>
                  <a:srgbClr val="595959"/>
                </a:solidFill>
                <a:latin typeface="Arial"/>
              </a:rPr>
              <a:t>routes · validation · presigning</a:t>
            </a:r>
          </a:p>
        </p:txBody>
      </p:sp>
      <p:sp>
        <p:nvSpPr>
          <p:cNvPr id="7" name="DynamoDB"/>
          <p:cNvSpPr/>
          <p:nvPr/>
        </p:nvSpPr>
        <p:spPr>
          <a:xfrm>
            <a:off x="9646920" y="2514600"/>
            <a:ext cx="2057400" cy="1325880"/>
          </a:xfrm>
          <a:prstGeom prst="roundRect">
            <a:avLst>
              <a:gd name="adj" fmla="val 6000"/>
            </a:avLst>
          </a:prstGeom>
          <a:solidFill>
            <a:srgbClr val="FFFFFF"/>
          </a:solidFill>
          <a:ln w="15875">
            <a:solidFill>
              <a:srgbClr val="262626"/>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spcAft>
                <a:spcPts val="0"/>
              </a:spcAft>
            </a:pPr>
            <a:r>
              <a:rPr sz="1100" b="0" i="0">
                <a:solidFill>
                  <a:srgbClr val="595959"/>
                </a:solidFill>
                <a:latin typeface="Arial"/>
              </a:rPr>
              <a:t>Amazon DynamoDB</a:t>
            </a:r>
          </a:p>
          <a:p>
            <a:pPr algn="ctr">
              <a:spcAft>
                <a:spcPts val="0"/>
              </a:spcAft>
            </a:pPr>
            <a:r>
              <a:rPr sz="1400" b="1" i="0">
                <a:solidFill>
                  <a:srgbClr val="262626"/>
                </a:solidFill>
                <a:latin typeface="Arial"/>
              </a:rPr>
              <a:t>DocumentAnalyticsV3</a:t>
            </a:r>
          </a:p>
          <a:p>
            <a:pPr algn="ctr">
              <a:spcAft>
                <a:spcPts val="0"/>
              </a:spcAft>
            </a:pPr>
            <a:r>
              <a:rPr sz="1100" b="0" i="0">
                <a:solidFill>
                  <a:srgbClr val="595959"/>
                </a:solidFill>
                <a:latin typeface="Arial"/>
              </a:rPr>
              <a:t>partition key: documentId</a:t>
            </a:r>
          </a:p>
        </p:txBody>
      </p:sp>
      <p:sp>
        <p:nvSpPr>
          <p:cNvPr id="8" name="S3"/>
          <p:cNvSpPr/>
          <p:nvPr/>
        </p:nvSpPr>
        <p:spPr>
          <a:xfrm>
            <a:off x="2971800" y="4206240"/>
            <a:ext cx="2057400" cy="960120"/>
          </a:xfrm>
          <a:prstGeom prst="roundRect">
            <a:avLst>
              <a:gd name="adj" fmla="val 6000"/>
            </a:avLst>
          </a:prstGeom>
          <a:solidFill>
            <a:srgbClr val="FFFFFF"/>
          </a:solid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spcAft>
                <a:spcPts val="0"/>
              </a:spcAft>
            </a:pPr>
            <a:r>
              <a:rPr sz="1100" b="0" i="0">
                <a:solidFill>
                  <a:srgbClr val="595959"/>
                </a:solidFill>
                <a:latin typeface="Arial"/>
              </a:rPr>
              <a:t>Amazon S3 (private)</a:t>
            </a:r>
          </a:p>
          <a:p>
            <a:pPr algn="ctr">
              <a:spcAft>
                <a:spcPts val="0"/>
              </a:spcAft>
            </a:pPr>
            <a:r>
              <a:rPr sz="1400" b="1" i="0">
                <a:solidFill>
                  <a:srgbClr val="262626"/>
                </a:solidFill>
                <a:latin typeface="Arial"/>
              </a:rPr>
              <a:t>Document bucket</a:t>
            </a:r>
          </a:p>
          <a:p>
            <a:pPr algn="ctr">
              <a:spcAft>
                <a:spcPts val="0"/>
              </a:spcAft>
            </a:pPr>
            <a:r>
              <a:rPr sz="1100" b="0" i="0">
                <a:solidFill>
                  <a:srgbClr val="595959"/>
                </a:solidFill>
                <a:latin typeface="Arial"/>
              </a:rPr>
              <a:t>incoming/&lt;documentId&gt;.txt</a:t>
            </a:r>
          </a:p>
        </p:txBody>
      </p:sp>
      <p:sp>
        <p:nvSpPr>
          <p:cNvPr id="9" name="DocumentProcessor"/>
          <p:cNvSpPr/>
          <p:nvPr/>
        </p:nvSpPr>
        <p:spPr>
          <a:xfrm>
            <a:off x="6172200" y="4206240"/>
            <a:ext cx="2103120" cy="960120"/>
          </a:xfrm>
          <a:prstGeom prst="roundRect">
            <a:avLst>
              <a:gd name="adj" fmla="val 6000"/>
            </a:avLst>
          </a:prstGeom>
          <a:solidFill>
            <a:srgbClr val="FFFFFF"/>
          </a:solid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spcAft>
                <a:spcPts val="0"/>
              </a:spcAft>
            </a:pPr>
            <a:r>
              <a:rPr sz="1100" b="0" i="0">
                <a:solidFill>
                  <a:srgbClr val="595959"/>
                </a:solidFill>
                <a:latin typeface="Arial"/>
              </a:rPr>
              <a:t>AWS Lambda</a:t>
            </a:r>
          </a:p>
          <a:p>
            <a:pPr algn="ctr">
              <a:spcAft>
                <a:spcPts val="0"/>
              </a:spcAft>
            </a:pPr>
            <a:r>
              <a:rPr sz="1400" b="1" i="0">
                <a:solidFill>
                  <a:srgbClr val="262626"/>
                </a:solidFill>
                <a:latin typeface="Arial"/>
              </a:rPr>
              <a:t>DocumentProcessor</a:t>
            </a:r>
          </a:p>
          <a:p>
            <a:pPr algn="ctr">
              <a:spcAft>
                <a:spcPts val="0"/>
              </a:spcAft>
            </a:pPr>
            <a:r>
              <a:rPr sz="1100" b="0" i="0">
                <a:solidFill>
                  <a:srgbClr val="595959"/>
                </a:solidFill>
                <a:latin typeface="Arial"/>
              </a:rPr>
              <a:t>read · analyse · update</a:t>
            </a:r>
          </a:p>
        </p:txBody>
      </p:sp>
      <p:sp>
        <p:nvSpPr>
          <p:cNvPr id="10" name="CloudWatch"/>
          <p:cNvSpPr/>
          <p:nvPr/>
        </p:nvSpPr>
        <p:spPr>
          <a:xfrm>
            <a:off x="6537960" y="2816352"/>
            <a:ext cx="1371600" cy="731520"/>
          </a:xfrm>
          <a:prstGeom prst="roundRect">
            <a:avLst>
              <a:gd name="adj" fmla="val 6000"/>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spcAft>
                <a:spcPts val="0"/>
              </a:spcAft>
            </a:pPr>
            <a:r>
              <a:rPr sz="1400" b="1" i="0">
                <a:solidFill>
                  <a:srgbClr val="262626"/>
                </a:solidFill>
                <a:latin typeface="Arial"/>
              </a:rPr>
              <a:t>CloudWatch</a:t>
            </a:r>
          </a:p>
          <a:p>
            <a:pPr algn="ctr">
              <a:spcAft>
                <a:spcPts val="0"/>
              </a:spcAft>
            </a:pPr>
            <a:r>
              <a:rPr sz="1100" b="0" i="0">
                <a:solidFill>
                  <a:srgbClr val="595959"/>
                </a:solidFill>
                <a:latin typeface="Arial"/>
              </a:rPr>
              <a:t>Logs</a:t>
            </a:r>
          </a:p>
        </p:txBody>
      </p:sp>
      <p:cxnSp>
        <p:nvCxnSpPr>
          <p:cNvPr id="11" name="Connector 10"/>
          <p:cNvCxnSpPr/>
          <p:nvPr/>
        </p:nvCxnSpPr>
        <p:spPr>
          <a:xfrm flipV="1">
            <a:off x="1394460" y="1668780"/>
            <a:ext cx="0" cy="845820"/>
          </a:xfrm>
          <a:prstGeom prst="line">
            <a:avLst/>
          </a:prstGeom>
          <a:ln w="25400">
            <a:solidFill>
              <a:srgbClr val="A3242F"/>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1371600" y="1668780"/>
            <a:ext cx="1600200" cy="0"/>
          </a:xfrm>
          <a:prstGeom prst="line">
            <a:avLst/>
          </a:prstGeom>
          <a:ln w="25400">
            <a:solidFill>
              <a:srgbClr val="A3242F"/>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1481328" y="1097280"/>
            <a:ext cx="1508760" cy="548640"/>
          </a:xfrm>
          <a:prstGeom prst="rect">
            <a:avLst/>
          </a:prstGeom>
          <a:noFill/>
        </p:spPr>
        <p:txBody>
          <a:bodyPr wrap="square" anchor="b" lIns="36576" rIns="36576" tIns="36576" bIns="36576"/>
          <a:lstStyle/>
          <a:p>
            <a:pPr algn="l">
              <a:spcAft>
                <a:spcPts val="0"/>
              </a:spcAft>
            </a:pPr>
            <a:r>
              <a:rPr sz="1100" b="1" i="0">
                <a:solidFill>
                  <a:srgbClr val="A3242F"/>
                </a:solidFill>
                <a:latin typeface="Arial"/>
              </a:rPr>
              <a:t>1  POST /uploads</a:t>
            </a:r>
          </a:p>
          <a:p>
            <a:pPr algn="l">
              <a:spcAft>
                <a:spcPts val="0"/>
              </a:spcAft>
            </a:pPr>
            <a:r>
              <a:rPr sz="1100" b="1" i="0">
                <a:solidFill>
                  <a:srgbClr val="A3242F"/>
                </a:solidFill>
                <a:latin typeface="Arial"/>
              </a:rPr>
              <a:t>6  GET /documents</a:t>
            </a:r>
          </a:p>
        </p:txBody>
      </p:sp>
      <p:cxnSp>
        <p:nvCxnSpPr>
          <p:cNvPr id="14" name="Connector 13"/>
          <p:cNvCxnSpPr/>
          <p:nvPr/>
        </p:nvCxnSpPr>
        <p:spPr>
          <a:xfrm>
            <a:off x="5029200" y="1668780"/>
            <a:ext cx="1143000" cy="0"/>
          </a:xfrm>
          <a:prstGeom prst="line">
            <a:avLst/>
          </a:prstGeom>
          <a:ln w="25400">
            <a:solidFill>
              <a:srgbClr val="A3242F"/>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5029200" y="1234440"/>
            <a:ext cx="1143000" cy="411480"/>
          </a:xfrm>
          <a:prstGeom prst="rect">
            <a:avLst/>
          </a:prstGeom>
          <a:noFill/>
        </p:spPr>
        <p:txBody>
          <a:bodyPr wrap="square" anchor="b" lIns="36576" rIns="36576" tIns="36576" bIns="36576"/>
          <a:lstStyle/>
          <a:p>
            <a:pPr algn="ctr">
              <a:spcAft>
                <a:spcPts val="400"/>
              </a:spcAft>
            </a:pPr>
            <a:r>
              <a:rPr sz="1100" b="0" i="0">
                <a:solidFill>
                  <a:srgbClr val="A3242F"/>
                </a:solidFill>
                <a:latin typeface="Arial"/>
              </a:rPr>
              <a:t>invoke</a:t>
            </a:r>
          </a:p>
        </p:txBody>
      </p:sp>
      <p:cxnSp>
        <p:nvCxnSpPr>
          <p:cNvPr id="16" name="Connector 15"/>
          <p:cNvCxnSpPr/>
          <p:nvPr/>
        </p:nvCxnSpPr>
        <p:spPr>
          <a:xfrm>
            <a:off x="8275320" y="1668780"/>
            <a:ext cx="2400300" cy="0"/>
          </a:xfrm>
          <a:prstGeom prst="line">
            <a:avLst/>
          </a:prstGeom>
          <a:ln w="25400">
            <a:solidFill>
              <a:srgbClr val="A3242F"/>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10675620" y="1645920"/>
            <a:ext cx="0" cy="868680"/>
          </a:xfrm>
          <a:prstGeom prst="line">
            <a:avLst/>
          </a:prstGeom>
          <a:ln w="25400">
            <a:solidFill>
              <a:srgbClr val="A3242F"/>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8366760" y="1188720"/>
            <a:ext cx="3337560" cy="457200"/>
          </a:xfrm>
          <a:prstGeom prst="rect">
            <a:avLst/>
          </a:prstGeom>
          <a:noFill/>
        </p:spPr>
        <p:txBody>
          <a:bodyPr wrap="square" anchor="b" lIns="36576" rIns="36576" tIns="36576" bIns="36576"/>
          <a:lstStyle/>
          <a:p>
            <a:pPr algn="l">
              <a:spcAft>
                <a:spcPts val="400"/>
              </a:spcAft>
            </a:pPr>
            <a:r>
              <a:rPr sz="1100" b="0" i="0">
                <a:solidFill>
                  <a:srgbClr val="A3242F"/>
                </a:solidFill>
                <a:latin typeface="Arial"/>
              </a:rPr>
              <a:t>PutItem (PENDING) · GetItem · Scan</a:t>
            </a:r>
          </a:p>
        </p:txBody>
      </p:sp>
      <p:cxnSp>
        <p:nvCxnSpPr>
          <p:cNvPr id="19" name="Connector 18"/>
          <p:cNvCxnSpPr/>
          <p:nvPr/>
        </p:nvCxnSpPr>
        <p:spPr>
          <a:xfrm flipH="1">
            <a:off x="4526280" y="2148840"/>
            <a:ext cx="1783080" cy="2057400"/>
          </a:xfrm>
          <a:prstGeom prst="line">
            <a:avLst/>
          </a:prstGeom>
          <a:ln w="15875">
            <a:solidFill>
              <a:srgbClr val="A3242F"/>
            </a:solidFill>
            <a:prstDash val="sysDot"/>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3108960" y="2468880"/>
            <a:ext cx="2240280" cy="548640"/>
          </a:xfrm>
          <a:prstGeom prst="rect">
            <a:avLst/>
          </a:prstGeom>
          <a:noFill/>
        </p:spPr>
        <p:txBody>
          <a:bodyPr wrap="square" anchor="t" lIns="36576" rIns="36576" tIns="36576" bIns="36576"/>
          <a:lstStyle/>
          <a:p>
            <a:pPr algn="r">
              <a:spcAft>
                <a:spcPts val="0"/>
              </a:spcAft>
            </a:pPr>
            <a:r>
              <a:rPr sz="1100" b="0" i="0">
                <a:solidFill>
                  <a:srgbClr val="A3242F"/>
                </a:solidFill>
                <a:latin typeface="Arial"/>
              </a:rPr>
              <a:t>signs a presigned PUT URL</a:t>
            </a:r>
          </a:p>
          <a:p>
            <a:pPr algn="r">
              <a:spcAft>
                <a:spcPts val="0"/>
              </a:spcAft>
            </a:pPr>
            <a:r>
              <a:rPr sz="1100" b="0" i="0">
                <a:solidFill>
                  <a:srgbClr val="A3242F"/>
                </a:solidFill>
                <a:latin typeface="Arial"/>
              </a:rPr>
              <a:t>for one S3 key</a:t>
            </a:r>
          </a:p>
        </p:txBody>
      </p:sp>
      <p:cxnSp>
        <p:nvCxnSpPr>
          <p:cNvPr id="21" name="Connector 20"/>
          <p:cNvCxnSpPr/>
          <p:nvPr/>
        </p:nvCxnSpPr>
        <p:spPr>
          <a:xfrm>
            <a:off x="1394460" y="3840480"/>
            <a:ext cx="0" cy="845820"/>
          </a:xfrm>
          <a:prstGeom prst="line">
            <a:avLst/>
          </a:prstGeom>
          <a:ln w="25400">
            <a:solidFill>
              <a:srgbClr val="A3242F"/>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1371600" y="4686300"/>
            <a:ext cx="1600200" cy="0"/>
          </a:xfrm>
          <a:prstGeom prst="line">
            <a:avLst/>
          </a:prstGeom>
          <a:ln w="25400">
            <a:solidFill>
              <a:srgbClr val="A3242F"/>
            </a:solidFill>
            <a:tailEnd type="triangle" w="med" len="med"/>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1508760" y="4727448"/>
            <a:ext cx="1463040" cy="457200"/>
          </a:xfrm>
          <a:prstGeom prst="rect">
            <a:avLst/>
          </a:prstGeom>
          <a:noFill/>
        </p:spPr>
        <p:txBody>
          <a:bodyPr wrap="square" anchor="t" lIns="36576" rIns="36576" tIns="36576" bIns="36576"/>
          <a:lstStyle/>
          <a:p>
            <a:pPr algn="l">
              <a:spcAft>
                <a:spcPts val="0"/>
              </a:spcAft>
            </a:pPr>
            <a:r>
              <a:rPr sz="1100" b="1" i="0">
                <a:solidFill>
                  <a:srgbClr val="A3242F"/>
                </a:solidFill>
                <a:latin typeface="Arial"/>
              </a:rPr>
              <a:t>2  PUT file via</a:t>
            </a:r>
          </a:p>
          <a:p>
            <a:pPr algn="l">
              <a:spcAft>
                <a:spcPts val="0"/>
              </a:spcAft>
            </a:pPr>
            <a:r>
              <a:rPr sz="1100" b="1" i="0">
                <a:solidFill>
                  <a:srgbClr val="A3242F"/>
                </a:solidFill>
                <a:latin typeface="Arial"/>
              </a:rPr>
              <a:t>presigned URL</a:t>
            </a:r>
          </a:p>
        </p:txBody>
      </p:sp>
      <p:cxnSp>
        <p:nvCxnSpPr>
          <p:cNvPr id="24" name="Connector 23"/>
          <p:cNvCxnSpPr/>
          <p:nvPr/>
        </p:nvCxnSpPr>
        <p:spPr>
          <a:xfrm>
            <a:off x="5029200" y="4462272"/>
            <a:ext cx="1143000" cy="0"/>
          </a:xfrm>
          <a:prstGeom prst="line">
            <a:avLst/>
          </a:prstGeom>
          <a:ln w="25400">
            <a:solidFill>
              <a:srgbClr val="1F4E79"/>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4983480" y="3959352"/>
            <a:ext cx="1234440" cy="457200"/>
          </a:xfrm>
          <a:prstGeom prst="rect">
            <a:avLst/>
          </a:prstGeom>
          <a:noFill/>
        </p:spPr>
        <p:txBody>
          <a:bodyPr wrap="square" anchor="b" lIns="36576" rIns="36576" tIns="36576" bIns="36576"/>
          <a:lstStyle/>
          <a:p>
            <a:pPr algn="ctr">
              <a:spcAft>
                <a:spcPts val="0"/>
              </a:spcAft>
            </a:pPr>
            <a:r>
              <a:rPr sz="1000" b="1" i="0">
                <a:solidFill>
                  <a:srgbClr val="1F4E79"/>
                </a:solidFill>
                <a:latin typeface="Arial"/>
              </a:rPr>
              <a:t>3  ObjectCreated</a:t>
            </a:r>
          </a:p>
          <a:p>
            <a:pPr algn="ctr">
              <a:spcAft>
                <a:spcPts val="0"/>
              </a:spcAft>
            </a:pPr>
            <a:r>
              <a:rPr sz="1000" b="1" i="0">
                <a:solidFill>
                  <a:srgbClr val="1F4E79"/>
                </a:solidFill>
                <a:latin typeface="Arial"/>
              </a:rPr>
              <a:t>(incoming/, .txt)</a:t>
            </a:r>
          </a:p>
        </p:txBody>
      </p:sp>
      <p:cxnSp>
        <p:nvCxnSpPr>
          <p:cNvPr id="26" name="Connector 25"/>
          <p:cNvCxnSpPr/>
          <p:nvPr/>
        </p:nvCxnSpPr>
        <p:spPr>
          <a:xfrm flipH="1">
            <a:off x="5029200" y="4919472"/>
            <a:ext cx="1143000" cy="0"/>
          </a:xfrm>
          <a:prstGeom prst="line">
            <a:avLst/>
          </a:prstGeom>
          <a:ln w="25400">
            <a:solidFill>
              <a:srgbClr val="1F4E79"/>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4983480" y="4965192"/>
            <a:ext cx="1234440" cy="274320"/>
          </a:xfrm>
          <a:prstGeom prst="rect">
            <a:avLst/>
          </a:prstGeom>
          <a:noFill/>
        </p:spPr>
        <p:txBody>
          <a:bodyPr wrap="square" anchor="t" lIns="36576" rIns="36576" tIns="36576" bIns="36576"/>
          <a:lstStyle/>
          <a:p>
            <a:pPr algn="ctr">
              <a:spcAft>
                <a:spcPts val="400"/>
              </a:spcAft>
            </a:pPr>
            <a:r>
              <a:rPr sz="1000" b="1" i="0">
                <a:solidFill>
                  <a:srgbClr val="1F4E79"/>
                </a:solidFill>
                <a:latin typeface="Arial"/>
              </a:rPr>
              <a:t>4  GetObject</a:t>
            </a:r>
          </a:p>
        </p:txBody>
      </p:sp>
      <p:cxnSp>
        <p:nvCxnSpPr>
          <p:cNvPr id="28" name="Connector 27"/>
          <p:cNvCxnSpPr/>
          <p:nvPr/>
        </p:nvCxnSpPr>
        <p:spPr>
          <a:xfrm>
            <a:off x="8275320" y="4686300"/>
            <a:ext cx="2400300" cy="0"/>
          </a:xfrm>
          <a:prstGeom prst="line">
            <a:avLst/>
          </a:prstGeom>
          <a:ln w="25400">
            <a:solidFill>
              <a:srgbClr val="1F4E79"/>
            </a:solidFill>
            <a:prstDash val="dash"/>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flipV="1">
            <a:off x="10675620" y="3840480"/>
            <a:ext cx="0" cy="868680"/>
          </a:xfrm>
          <a:prstGeom prst="line">
            <a:avLst/>
          </a:prstGeom>
          <a:ln w="25400">
            <a:solidFill>
              <a:srgbClr val="1F4E79"/>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8366760" y="4727448"/>
            <a:ext cx="2240280" cy="457200"/>
          </a:xfrm>
          <a:prstGeom prst="rect">
            <a:avLst/>
          </a:prstGeom>
          <a:noFill/>
        </p:spPr>
        <p:txBody>
          <a:bodyPr wrap="square" anchor="t" lIns="36576" rIns="36576" tIns="36576" bIns="36576"/>
          <a:lstStyle/>
          <a:p>
            <a:pPr algn="l">
              <a:spcAft>
                <a:spcPts val="0"/>
              </a:spcAft>
            </a:pPr>
            <a:r>
              <a:rPr sz="1100" b="1" i="0">
                <a:solidFill>
                  <a:srgbClr val="1F4E79"/>
                </a:solidFill>
                <a:latin typeface="Arial"/>
              </a:rPr>
              <a:t>5  UpdateItem: status +</a:t>
            </a:r>
          </a:p>
          <a:p>
            <a:pPr algn="l">
              <a:spcAft>
                <a:spcPts val="0"/>
              </a:spcAft>
            </a:pPr>
            <a:r>
              <a:rPr sz="1100" b="1" i="0">
                <a:solidFill>
                  <a:srgbClr val="1F4E79"/>
                </a:solidFill>
                <a:latin typeface="Arial"/>
              </a:rPr>
              <a:t>analytics</a:t>
            </a:r>
          </a:p>
        </p:txBody>
      </p:sp>
      <p:cxnSp>
        <p:nvCxnSpPr>
          <p:cNvPr id="31" name="Connector 30"/>
          <p:cNvCxnSpPr/>
          <p:nvPr/>
        </p:nvCxnSpPr>
        <p:spPr>
          <a:xfrm>
            <a:off x="7223760" y="2148840"/>
            <a:ext cx="0" cy="667512"/>
          </a:xfrm>
          <a:prstGeom prst="line">
            <a:avLst/>
          </a:prstGeom>
          <a:ln w="15875">
            <a:solidFill>
              <a:srgbClr val="7F7F7F"/>
            </a:solidFill>
            <a:prstDash val="sysDot"/>
            <a:tailEnd type="triangle" w="med" len="med"/>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flipV="1">
            <a:off x="7223760" y="3547872"/>
            <a:ext cx="0" cy="658368"/>
          </a:xfrm>
          <a:prstGeom prst="line">
            <a:avLst/>
          </a:prstGeom>
          <a:ln w="15875">
            <a:solidFill>
              <a:srgbClr val="7F7F7F"/>
            </a:solidFill>
            <a:prstDash val="sysDot"/>
            <a:tailEnd type="triangle" w="med" len="med"/>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548640" y="5596128"/>
            <a:ext cx="548640" cy="0"/>
          </a:xfrm>
          <a:prstGeom prst="line">
            <a:avLst/>
          </a:prstGeom>
          <a:ln w="25400">
            <a:solidFill>
              <a:srgbClr val="A3242F"/>
            </a:solidFill>
          </a:ln>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1188720" y="5440680"/>
            <a:ext cx="2926080" cy="320040"/>
          </a:xfrm>
          <a:prstGeom prst="rect">
            <a:avLst/>
          </a:prstGeom>
          <a:noFill/>
        </p:spPr>
        <p:txBody>
          <a:bodyPr wrap="square" anchor="t" lIns="36576" rIns="36576" tIns="36576" bIns="36576"/>
          <a:lstStyle/>
          <a:p>
            <a:pPr algn="l">
              <a:spcAft>
                <a:spcPts val="400"/>
              </a:spcAft>
            </a:pPr>
            <a:r>
              <a:rPr sz="1200" b="0" i="0">
                <a:solidFill>
                  <a:srgbClr val="262626"/>
                </a:solidFill>
                <a:latin typeface="Arial"/>
              </a:rPr>
              <a:t>Synchronous request / response</a:t>
            </a:r>
          </a:p>
        </p:txBody>
      </p:sp>
      <p:cxnSp>
        <p:nvCxnSpPr>
          <p:cNvPr id="35" name="Connector 34"/>
          <p:cNvCxnSpPr/>
          <p:nvPr/>
        </p:nvCxnSpPr>
        <p:spPr>
          <a:xfrm>
            <a:off x="4023360" y="5596128"/>
            <a:ext cx="548640" cy="0"/>
          </a:xfrm>
          <a:prstGeom prst="line">
            <a:avLst/>
          </a:prstGeom>
          <a:ln w="25400">
            <a:solidFill>
              <a:srgbClr val="1F4E79"/>
            </a:solidFill>
            <a:prstDash val="dash"/>
          </a:ln>
        </p:spPr>
        <p:style>
          <a:lnRef idx="2">
            <a:schemeClr val="accent1"/>
          </a:lnRef>
          <a:fillRef idx="0">
            <a:schemeClr val="accent1"/>
          </a:fillRef>
          <a:effectRef idx="1">
            <a:schemeClr val="accent1"/>
          </a:effectRef>
          <a:fontRef idx="minor">
            <a:schemeClr val="tx1"/>
          </a:fontRef>
        </p:style>
      </p:cxnSp>
      <p:sp>
        <p:nvSpPr>
          <p:cNvPr id="36" name="TextBox 35"/>
          <p:cNvSpPr txBox="1"/>
          <p:nvPr/>
        </p:nvSpPr>
        <p:spPr>
          <a:xfrm>
            <a:off x="4663440" y="5440680"/>
            <a:ext cx="2834640" cy="320040"/>
          </a:xfrm>
          <a:prstGeom prst="rect">
            <a:avLst/>
          </a:prstGeom>
          <a:noFill/>
        </p:spPr>
        <p:txBody>
          <a:bodyPr wrap="square" anchor="t" lIns="36576" rIns="36576" tIns="36576" bIns="36576"/>
          <a:lstStyle/>
          <a:p>
            <a:pPr algn="l">
              <a:spcAft>
                <a:spcPts val="400"/>
              </a:spcAft>
            </a:pPr>
            <a:r>
              <a:rPr sz="1200" b="0" i="0">
                <a:solidFill>
                  <a:srgbClr val="262626"/>
                </a:solidFill>
                <a:latin typeface="Arial"/>
              </a:rPr>
              <a:t>Asynchronous, event-driven</a:t>
            </a:r>
          </a:p>
        </p:txBody>
      </p:sp>
      <p:cxnSp>
        <p:nvCxnSpPr>
          <p:cNvPr id="37" name="Connector 36"/>
          <p:cNvCxnSpPr/>
          <p:nvPr/>
        </p:nvCxnSpPr>
        <p:spPr>
          <a:xfrm>
            <a:off x="7269480" y="5596128"/>
            <a:ext cx="548640" cy="0"/>
          </a:xfrm>
          <a:prstGeom prst="line">
            <a:avLst/>
          </a:prstGeom>
          <a:ln w="15875">
            <a:solidFill>
              <a:srgbClr val="7F7F7F"/>
            </a:solidFill>
            <a:prstDash val="sysDot"/>
          </a:ln>
        </p:spPr>
        <p:style>
          <a:lnRef idx="2">
            <a:schemeClr val="accent1"/>
          </a:lnRef>
          <a:fillRef idx="0">
            <a:schemeClr val="accent1"/>
          </a:fillRef>
          <a:effectRef idx="1">
            <a:schemeClr val="accent1"/>
          </a:effectRef>
          <a:fontRef idx="minor">
            <a:schemeClr val="tx1"/>
          </a:fontRef>
        </p:style>
      </p:cxnSp>
      <p:sp>
        <p:nvSpPr>
          <p:cNvPr id="38" name="TextBox 37"/>
          <p:cNvSpPr txBox="1"/>
          <p:nvPr/>
        </p:nvSpPr>
        <p:spPr>
          <a:xfrm>
            <a:off x="7909560" y="5440680"/>
            <a:ext cx="3840480" cy="320040"/>
          </a:xfrm>
          <a:prstGeom prst="rect">
            <a:avLst/>
          </a:prstGeom>
          <a:noFill/>
        </p:spPr>
        <p:txBody>
          <a:bodyPr wrap="square" anchor="t" lIns="36576" rIns="36576" tIns="36576" bIns="36576"/>
          <a:lstStyle/>
          <a:p>
            <a:pPr algn="l">
              <a:spcAft>
                <a:spcPts val="400"/>
              </a:spcAft>
            </a:pPr>
            <a:r>
              <a:rPr sz="1200" b="0" i="0">
                <a:solidFill>
                  <a:srgbClr val="262626"/>
                </a:solidFill>
                <a:latin typeface="Arial"/>
              </a:rPr>
              <a:t>Logs / signing (no data transfer)</a:t>
            </a:r>
          </a:p>
        </p:txBody>
      </p:sp>
      <p:sp>
        <p:nvSpPr>
          <p:cNvPr id="39" name="TextBox 38"/>
          <p:cNvSpPr txBox="1"/>
          <p:nvPr/>
        </p:nvSpPr>
        <p:spPr>
          <a:xfrm>
            <a:off x="8366760" y="3931920"/>
            <a:ext cx="2194560" cy="685800"/>
          </a:xfrm>
          <a:prstGeom prst="rect">
            <a:avLst/>
          </a:prstGeom>
          <a:noFill/>
        </p:spPr>
        <p:txBody>
          <a:bodyPr wrap="square" anchor="t" lIns="36576" rIns="36576" tIns="36576" bIns="36576"/>
          <a:lstStyle/>
          <a:p>
            <a:pPr algn="r">
              <a:spcAft>
                <a:spcPts val="0"/>
              </a:spcAft>
            </a:pPr>
            <a:r>
              <a:rPr sz="1100" b="0" i="1">
                <a:solidFill>
                  <a:srgbClr val="595959"/>
                </a:solidFill>
                <a:latin typeface="Arial"/>
              </a:rPr>
              <a:t>The browser never accesses</a:t>
            </a:r>
          </a:p>
          <a:p>
            <a:pPr algn="r">
              <a:spcAft>
                <a:spcPts val="0"/>
              </a:spcAft>
            </a:pPr>
            <a:r>
              <a:rPr sz="1100" b="0" i="1">
                <a:solidFill>
                  <a:srgbClr val="595959"/>
                </a:solidFill>
                <a:latin typeface="Arial"/>
              </a:rPr>
              <a:t>DynamoDB; reads go</a:t>
            </a:r>
          </a:p>
          <a:p>
            <a:pPr algn="r">
              <a:spcAft>
                <a:spcPts val="0"/>
              </a:spcAft>
            </a:pPr>
            <a:r>
              <a:rPr sz="1100" b="0" i="1">
                <a:solidFill>
                  <a:srgbClr val="595959"/>
                </a:solidFill>
                <a:latin typeface="Arial"/>
              </a:rPr>
              <a:t>through the API.</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2819400" y="182880"/>
            <a:ext cx="7343775" cy="713232"/>
          </a:xfrm>
        </p:spPr>
        <p:txBody>
          <a:bodyPr wrap="square" anchor="ctr" lIns="0" rIns="0" tIns="0" bIns="0">
            <a:normAutofit/>
          </a:bodyPr>
          <a:lstStyle/>
          <a:p>
            <a:pPr algn="ctr"/>
            <a:r>
              <a:rPr sz="2800"/>
              <a:t>Technology Stack</a:t>
            </a:r>
          </a:p>
        </p:txBody>
      </p:sp>
      <p:sp>
        <p:nvSpPr>
          <p:cNvPr id="3" name="Slide Number"/>
          <p:cNvSpPr txBox="1"/>
          <p:nvPr/>
        </p:nvSpPr>
        <p:spPr>
          <a:xfrm>
            <a:off x="10850000" y="5996978"/>
            <a:ext cx="372000" cy="230000"/>
          </a:xfrm>
          <a:prstGeom prst="rect">
            <a:avLst/>
          </a:prstGeom>
          <a:noFill/>
        </p:spPr>
        <p:txBody>
          <a:bodyPr wrap="none" lIns="0" rIns="0" tIns="0" bIns="0">
            <a:spAutoFit/>
          </a:bodyPr>
          <a:lstStyle/>
          <a:p>
            <a:pPr algn="r"/>
            <a:fld id="{B6F15528-21DE-4FAA-801E-634DDDAF4B2B}" type="slidenum">
              <a:rPr lang="en-US" sz="1200">
                <a:solidFill>
                  <a:srgbClr val="3E3E3E"/>
                </a:solidFill>
                <a:latin typeface="Georgia"/>
              </a:rPr>
              <a:t>‹#›</a:t>
            </a:fld>
          </a:p>
        </p:txBody>
      </p:sp>
      <p:graphicFrame>
        <p:nvGraphicFramePr>
          <p:cNvPr id="4" name="Technology table"/>
          <p:cNvGraphicFramePr>
            <a:graphicFrameLocks noGrp="1"/>
          </p:cNvGraphicFramePr>
          <p:nvPr/>
        </p:nvGraphicFramePr>
        <p:xfrm>
          <a:off x="502920" y="1188720"/>
          <a:ext cx="11201400" cy="4096512"/>
        </p:xfrm>
        <a:graphic>
          <a:graphicData uri="http://schemas.openxmlformats.org/drawingml/2006/table">
            <a:tbl>
              <a:tblPr firstRow="1" bandRow="0">
                <a:tableStyleId>{5C22544A-7EE6-4342-B048-85BDC9FD1C3A}</a:tableStyleId>
              </a:tblPr>
              <a:tblGrid>
                <a:gridCol w="2880360"/>
                <a:gridCol w="4069080"/>
                <a:gridCol w="4251960"/>
              </a:tblGrid>
              <a:tr h="512064">
                <a:tc>
                  <a:txBody>
                    <a:bodyPr wrap="square"/>
                    <a:lstStyle/>
                    <a:p>
                      <a:r>
                        <a:rPr sz="1400" b="1" i="0">
                          <a:solidFill>
                            <a:srgbClr val="FFFFFF"/>
                          </a:solidFill>
                          <a:latin typeface="Arial"/>
                        </a:rPr>
                        <a:t>Technology</a:t>
                      </a:r>
                    </a:p>
                  </a:txBody>
                  <a:tcPr marL="73152" marR="73152" marT="36576" marB="36576" anchor="ctr">
                    <a:solidFill>
                      <a:srgbClr val="A3242F"/>
                    </a:solidFill>
                  </a:tcPr>
                </a:tc>
                <a:tc>
                  <a:txBody>
                    <a:bodyPr wrap="square"/>
                    <a:lstStyle/>
                    <a:p>
                      <a:r>
                        <a:rPr sz="1400" b="1" i="0">
                          <a:solidFill>
                            <a:srgbClr val="FFFFFF"/>
                          </a:solidFill>
                          <a:latin typeface="Arial"/>
                        </a:rPr>
                        <a:t>Role in the project</a:t>
                      </a:r>
                    </a:p>
                  </a:txBody>
                  <a:tcPr marL="73152" marR="73152" marT="36576" marB="36576" anchor="ctr">
                    <a:solidFill>
                      <a:srgbClr val="A3242F"/>
                    </a:solidFill>
                  </a:tcPr>
                </a:tc>
                <a:tc>
                  <a:txBody>
                    <a:bodyPr wrap="square"/>
                    <a:lstStyle/>
                    <a:p>
                      <a:r>
                        <a:rPr sz="1400" b="1" i="0">
                          <a:solidFill>
                            <a:srgbClr val="FFFFFF"/>
                          </a:solidFill>
                          <a:latin typeface="Arial"/>
                        </a:rPr>
                        <a:t>Project resource</a:t>
                      </a:r>
                    </a:p>
                  </a:txBody>
                  <a:tcPr marL="73152" marR="73152" marT="36576" marB="36576" anchor="ctr">
                    <a:solidFill>
                      <a:srgbClr val="A3242F"/>
                    </a:solidFill>
                  </a:tcPr>
                </a:tc>
              </a:tr>
              <a:tr h="512064">
                <a:tc>
                  <a:txBody>
                    <a:bodyPr wrap="square"/>
                    <a:lstStyle/>
                    <a:p>
                      <a:r>
                        <a:rPr sz="1300" b="1" i="0">
                          <a:solidFill>
                            <a:srgbClr val="262626"/>
                          </a:solidFill>
                          <a:latin typeface="Arial"/>
                        </a:rPr>
                        <a:t>Amazon S3</a:t>
                      </a:r>
                    </a:p>
                  </a:txBody>
                  <a:tcPr marL="73152" marR="73152" marT="36576" marB="36576" anchor="ctr">
                    <a:solidFill>
                      <a:srgbClr val="FFFFFF"/>
                    </a:solidFill>
                  </a:tcPr>
                </a:tc>
                <a:tc>
                  <a:txBody>
                    <a:bodyPr wrap="square"/>
                    <a:lstStyle/>
                    <a:p>
                      <a:r>
                        <a:rPr sz="1300" b="0" i="0">
                          <a:solidFill>
                            <a:srgbClr val="262626"/>
                          </a:solidFill>
                          <a:latin typeface="Arial"/>
                        </a:rPr>
                        <a:t>Private storage for uploaded TXT files; source of ObjectCreated events</a:t>
                      </a:r>
                    </a:p>
                  </a:txBody>
                  <a:tcPr marL="73152" marR="73152" marT="36576" marB="36576" anchor="ctr">
                    <a:solidFill>
                      <a:srgbClr val="FFFFFF"/>
                    </a:solidFill>
                  </a:tcPr>
                </a:tc>
                <a:tc>
                  <a:txBody>
                    <a:bodyPr wrap="square"/>
                    <a:lstStyle/>
                    <a:p>
                      <a:r>
                        <a:rPr sz="1300" b="0" i="0">
                          <a:solidFill>
                            <a:srgbClr val="262626"/>
                          </a:solidFill>
                          <a:latin typeface="Arial"/>
                        </a:rPr>
                        <a:t>serverless-doc-analytics-ram-2026-73921 (incoming/)</a:t>
                      </a:r>
                    </a:p>
                  </a:txBody>
                  <a:tcPr marL="73152" marR="73152" marT="36576" marB="36576" anchor="ctr">
                    <a:solidFill>
                      <a:srgbClr val="FFFFFF"/>
                    </a:solidFill>
                  </a:tcPr>
                </a:tc>
              </a:tr>
              <a:tr h="512064">
                <a:tc>
                  <a:txBody>
                    <a:bodyPr wrap="square"/>
                    <a:lstStyle/>
                    <a:p>
                      <a:r>
                        <a:rPr sz="1300" b="1" i="0">
                          <a:solidFill>
                            <a:srgbClr val="262626"/>
                          </a:solidFill>
                          <a:latin typeface="Arial"/>
                        </a:rPr>
                        <a:t>AWS Lambda</a:t>
                      </a:r>
                    </a:p>
                  </a:txBody>
                  <a:tcPr marL="73152" marR="73152" marT="36576" marB="36576" anchor="ctr">
                    <a:solidFill>
                      <a:srgbClr val="F3F3F3"/>
                    </a:solidFill>
                  </a:tcPr>
                </a:tc>
                <a:tc>
                  <a:txBody>
                    <a:bodyPr wrap="square"/>
                    <a:lstStyle/>
                    <a:p>
                      <a:r>
                        <a:rPr sz="1300" b="0" i="0">
                          <a:solidFill>
                            <a:srgbClr val="262626"/>
                          </a:solidFill>
                          <a:latin typeface="Arial"/>
                        </a:rPr>
                        <a:t>API request handling and document processing</a:t>
                      </a:r>
                    </a:p>
                  </a:txBody>
                  <a:tcPr marL="73152" marR="73152" marT="36576" marB="36576" anchor="ctr">
                    <a:solidFill>
                      <a:srgbClr val="F3F3F3"/>
                    </a:solidFill>
                  </a:tcPr>
                </a:tc>
                <a:tc>
                  <a:txBody>
                    <a:bodyPr wrap="square"/>
                    <a:lstStyle/>
                    <a:p>
                      <a:r>
                        <a:rPr sz="1300" b="0" i="0">
                          <a:solidFill>
                            <a:srgbClr val="262626"/>
                          </a:solidFill>
                          <a:latin typeface="Arial"/>
                        </a:rPr>
                        <a:t>DocumentApi, DocumentProcessor</a:t>
                      </a:r>
                    </a:p>
                  </a:txBody>
                  <a:tcPr marL="73152" marR="73152" marT="36576" marB="36576" anchor="ctr">
                    <a:solidFill>
                      <a:srgbClr val="F3F3F3"/>
                    </a:solidFill>
                  </a:tcPr>
                </a:tc>
              </a:tr>
              <a:tr h="512064">
                <a:tc>
                  <a:txBody>
                    <a:bodyPr wrap="square"/>
                    <a:lstStyle/>
                    <a:p>
                      <a:r>
                        <a:rPr sz="1300" b="1" i="0">
                          <a:solidFill>
                            <a:srgbClr val="262626"/>
                          </a:solidFill>
                          <a:latin typeface="Arial"/>
                        </a:rPr>
                        <a:t>Amazon API Gateway (HTTP API)</a:t>
                      </a:r>
                    </a:p>
                  </a:txBody>
                  <a:tcPr marL="73152" marR="73152" marT="36576" marB="36576" anchor="ctr">
                    <a:solidFill>
                      <a:srgbClr val="FFFFFF"/>
                    </a:solidFill>
                  </a:tcPr>
                </a:tc>
                <a:tc>
                  <a:txBody>
                    <a:bodyPr wrap="square"/>
                    <a:lstStyle/>
                    <a:p>
                      <a:r>
                        <a:rPr sz="1300" b="0" i="0">
                          <a:solidFill>
                            <a:srgbClr val="262626"/>
                          </a:solidFill>
                          <a:latin typeface="Arial"/>
                        </a:rPr>
                        <a:t>REST-style endpoints with built-in CORS</a:t>
                      </a:r>
                    </a:p>
                  </a:txBody>
                  <a:tcPr marL="73152" marR="73152" marT="36576" marB="36576" anchor="ctr">
                    <a:solidFill>
                      <a:srgbClr val="FFFFFF"/>
                    </a:solidFill>
                  </a:tcPr>
                </a:tc>
                <a:tc>
                  <a:txBody>
                    <a:bodyPr wrap="square"/>
                    <a:lstStyle/>
                    <a:p>
                      <a:r>
                        <a:rPr sz="1300" b="0" i="0">
                          <a:solidFill>
                            <a:srgbClr val="262626"/>
                          </a:solidFill>
                          <a:latin typeface="Arial"/>
                        </a:rPr>
                        <a:t>DocumentAnalyticsAPI: POST /uploads, GET /documents, GET /documents/{documentId}</a:t>
                      </a:r>
                    </a:p>
                  </a:txBody>
                  <a:tcPr marL="73152" marR="73152" marT="36576" marB="36576" anchor="ctr">
                    <a:solidFill>
                      <a:srgbClr val="FFFFFF"/>
                    </a:solidFill>
                  </a:tcPr>
                </a:tc>
              </a:tr>
              <a:tr h="512064">
                <a:tc>
                  <a:txBody>
                    <a:bodyPr wrap="square"/>
                    <a:lstStyle/>
                    <a:p>
                      <a:r>
                        <a:rPr sz="1300" b="1" i="0">
                          <a:solidFill>
                            <a:srgbClr val="262626"/>
                          </a:solidFill>
                          <a:latin typeface="Arial"/>
                        </a:rPr>
                        <a:t>Amazon DynamoDB</a:t>
                      </a:r>
                    </a:p>
                  </a:txBody>
                  <a:tcPr marL="73152" marR="73152" marT="36576" marB="36576" anchor="ctr">
                    <a:solidFill>
                      <a:srgbClr val="F3F3F3"/>
                    </a:solidFill>
                  </a:tcPr>
                </a:tc>
                <a:tc>
                  <a:txBody>
                    <a:bodyPr wrap="square"/>
                    <a:lstStyle/>
                    <a:p>
                      <a:r>
                        <a:rPr sz="1300" b="0" i="0">
                          <a:solidFill>
                            <a:srgbClr val="262626"/>
                          </a:solidFill>
                          <a:latin typeface="Arial"/>
                        </a:rPr>
                        <a:t>Document metadata, processing status and analytics</a:t>
                      </a:r>
                    </a:p>
                  </a:txBody>
                  <a:tcPr marL="73152" marR="73152" marT="36576" marB="36576" anchor="ctr">
                    <a:solidFill>
                      <a:srgbClr val="F3F3F3"/>
                    </a:solidFill>
                  </a:tcPr>
                </a:tc>
                <a:tc>
                  <a:txBody>
                    <a:bodyPr wrap="square"/>
                    <a:lstStyle/>
                    <a:p>
                      <a:r>
                        <a:rPr sz="1300" b="0" i="0">
                          <a:solidFill>
                            <a:srgbClr val="262626"/>
                          </a:solidFill>
                          <a:latin typeface="Arial"/>
                        </a:rPr>
                        <a:t>DocumentAnalyticsV3 (partition key documentId)</a:t>
                      </a:r>
                    </a:p>
                  </a:txBody>
                  <a:tcPr marL="73152" marR="73152" marT="36576" marB="36576" anchor="ctr">
                    <a:solidFill>
                      <a:srgbClr val="F3F3F3"/>
                    </a:solidFill>
                  </a:tcPr>
                </a:tc>
              </a:tr>
              <a:tr h="512064">
                <a:tc>
                  <a:txBody>
                    <a:bodyPr wrap="square"/>
                    <a:lstStyle/>
                    <a:p>
                      <a:r>
                        <a:rPr sz="1300" b="1" i="0">
                          <a:solidFill>
                            <a:srgbClr val="262626"/>
                          </a:solidFill>
                          <a:latin typeface="Arial"/>
                        </a:rPr>
                        <a:t>Amazon CloudWatch</a:t>
                      </a:r>
                    </a:p>
                  </a:txBody>
                  <a:tcPr marL="73152" marR="73152" marT="36576" marB="36576" anchor="ctr">
                    <a:solidFill>
                      <a:srgbClr val="FFFFFF"/>
                    </a:solidFill>
                  </a:tcPr>
                </a:tc>
                <a:tc>
                  <a:txBody>
                    <a:bodyPr wrap="square"/>
                    <a:lstStyle/>
                    <a:p>
                      <a:r>
                        <a:rPr sz="1300" b="0" i="0">
                          <a:solidFill>
                            <a:srgbClr val="262626"/>
                          </a:solidFill>
                          <a:latin typeface="Arial"/>
                        </a:rPr>
                        <a:t>Lambda execution logs and troubleshooting</a:t>
                      </a:r>
                    </a:p>
                  </a:txBody>
                  <a:tcPr marL="73152" marR="73152" marT="36576" marB="36576" anchor="ctr">
                    <a:solidFill>
                      <a:srgbClr val="FFFFFF"/>
                    </a:solidFill>
                  </a:tcPr>
                </a:tc>
                <a:tc>
                  <a:txBody>
                    <a:bodyPr wrap="square"/>
                    <a:lstStyle/>
                    <a:p>
                      <a:r>
                        <a:rPr sz="1300" b="0" i="0">
                          <a:solidFill>
                            <a:srgbClr val="262626"/>
                          </a:solidFill>
                          <a:latin typeface="Arial"/>
                        </a:rPr>
                        <a:t>/aws/lambda/DocumentProcessor log group</a:t>
                      </a:r>
                    </a:p>
                  </a:txBody>
                  <a:tcPr marL="73152" marR="73152" marT="36576" marB="36576" anchor="ctr">
                    <a:solidFill>
                      <a:srgbClr val="FFFFFF"/>
                    </a:solidFill>
                  </a:tcPr>
                </a:tc>
              </a:tr>
              <a:tr h="512064">
                <a:tc>
                  <a:txBody>
                    <a:bodyPr wrap="square"/>
                    <a:lstStyle/>
                    <a:p>
                      <a:r>
                        <a:rPr sz="1300" b="1" i="0">
                          <a:solidFill>
                            <a:srgbClr val="262626"/>
                          </a:solidFill>
                          <a:latin typeface="Arial"/>
                        </a:rPr>
                        <a:t>HTML, CSS, JavaScript</a:t>
                      </a:r>
                    </a:p>
                  </a:txBody>
                  <a:tcPr marL="73152" marR="73152" marT="36576" marB="36576" anchor="ctr">
                    <a:solidFill>
                      <a:srgbClr val="F3F3F3"/>
                    </a:solidFill>
                  </a:tcPr>
                </a:tc>
                <a:tc>
                  <a:txBody>
                    <a:bodyPr wrap="square"/>
                    <a:lstStyle/>
                    <a:p>
                      <a:r>
                        <a:rPr sz="1300" b="0" i="0">
                          <a:solidFill>
                            <a:srgbClr val="262626"/>
                          </a:solidFill>
                          <a:latin typeface="Arial"/>
                        </a:rPr>
                        <a:t>Dashboard: upload, list, details, status polling</a:t>
                      </a:r>
                    </a:p>
                  </a:txBody>
                  <a:tcPr marL="73152" marR="73152" marT="36576" marB="36576" anchor="ctr">
                    <a:solidFill>
                      <a:srgbClr val="F3F3F3"/>
                    </a:solidFill>
                  </a:tcPr>
                </a:tc>
                <a:tc>
                  <a:txBody>
                    <a:bodyPr wrap="square"/>
                    <a:lstStyle/>
                    <a:p>
                      <a:r>
                        <a:rPr sz="1300" b="0" i="0">
                          <a:solidFill>
                            <a:srgbClr val="262626"/>
                          </a:solidFill>
                          <a:latin typeface="Arial"/>
                        </a:rPr>
                        <a:t>index.html, style.css, app.js, config.js</a:t>
                      </a:r>
                    </a:p>
                  </a:txBody>
                  <a:tcPr marL="73152" marR="73152" marT="36576" marB="36576" anchor="ctr">
                    <a:solidFill>
                      <a:srgbClr val="F3F3F3"/>
                    </a:solidFill>
                  </a:tcPr>
                </a:tc>
              </a:tr>
              <a:tr h="512064">
                <a:tc>
                  <a:txBody>
                    <a:bodyPr wrap="square"/>
                    <a:lstStyle/>
                    <a:p>
                      <a:r>
                        <a:rPr sz="1300" b="1" i="0">
                          <a:solidFill>
                            <a:srgbClr val="262626"/>
                          </a:solidFill>
                          <a:latin typeface="Arial"/>
                        </a:rPr>
                        <a:t>Python + Boto3</a:t>
                      </a:r>
                    </a:p>
                  </a:txBody>
                  <a:tcPr marL="73152" marR="73152" marT="36576" marB="36576" anchor="ctr">
                    <a:solidFill>
                      <a:srgbClr val="FFFFFF"/>
                    </a:solidFill>
                  </a:tcPr>
                </a:tc>
                <a:tc>
                  <a:txBody>
                    <a:bodyPr wrap="square"/>
                    <a:lstStyle/>
                    <a:p>
                      <a:r>
                        <a:rPr sz="1300" b="0" i="0">
                          <a:solidFill>
                            <a:srgbClr val="262626"/>
                          </a:solidFill>
                          <a:latin typeface="Arial"/>
                        </a:rPr>
                        <a:t>Lambda code; SDK calls to S3 and DynamoDB</a:t>
                      </a:r>
                    </a:p>
                  </a:txBody>
                  <a:tcPr marL="73152" marR="73152" marT="36576" marB="36576" anchor="ctr">
                    <a:solidFill>
                      <a:srgbClr val="FFFFFF"/>
                    </a:solidFill>
                  </a:tcPr>
                </a:tc>
                <a:tc>
                  <a:txBody>
                    <a:bodyPr wrap="square"/>
                    <a:lstStyle/>
                    <a:p>
                      <a:r>
                        <a:rPr sz="1300" b="0" i="0">
                          <a:solidFill>
                            <a:srgbClr val="262626"/>
                          </a:solidFill>
                          <a:latin typeface="Arial"/>
                        </a:rPr>
                        <a:t>lambda_function.py in each Lambda</a:t>
                      </a:r>
                    </a:p>
                  </a:txBody>
                  <a:tcPr marL="73152" marR="73152" marT="36576" marB="36576" anchor="ctr">
                    <a:solidFill>
                      <a:srgbClr val="FFFFFF"/>
                    </a:solidFill>
                  </a:tcPr>
                </a:tc>
              </a:tr>
            </a:tbl>
          </a:graphicData>
        </a:graphic>
      </p:graphicFrame>
      <p:sp>
        <p:nvSpPr>
          <p:cNvPr id="5" name="TextBox 4"/>
          <p:cNvSpPr txBox="1"/>
          <p:nvPr/>
        </p:nvSpPr>
        <p:spPr>
          <a:xfrm>
            <a:off x="502920" y="5532120"/>
            <a:ext cx="11201400" cy="320040"/>
          </a:xfrm>
          <a:prstGeom prst="rect">
            <a:avLst/>
          </a:prstGeom>
          <a:noFill/>
        </p:spPr>
        <p:txBody>
          <a:bodyPr wrap="square" anchor="t" lIns="36576" rIns="36576" tIns="36576" bIns="36576"/>
          <a:lstStyle/>
          <a:p>
            <a:pPr algn="l">
              <a:spcAft>
                <a:spcPts val="400"/>
              </a:spcAft>
            </a:pPr>
            <a:r>
              <a:rPr sz="1200" b="0" i="1">
                <a:solidFill>
                  <a:srgbClr val="595959"/>
                </a:solidFill>
                <a:latin typeface="Arial"/>
              </a:rPr>
              <a:t>Region: ap-southeast-2 (Sydney) · Supported input: .txt, maximum 1 MB (prototype limit)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2819400" y="182880"/>
            <a:ext cx="7343775" cy="713232"/>
          </a:xfrm>
        </p:spPr>
        <p:txBody>
          <a:bodyPr wrap="square" anchor="ctr" lIns="0" rIns="0" tIns="0" bIns="0">
            <a:normAutofit/>
          </a:bodyPr>
          <a:lstStyle/>
          <a:p>
            <a:pPr algn="ctr"/>
            <a:r>
              <a:rPr sz="2800"/>
              <a:t>Implementation and Workflow</a:t>
            </a:r>
          </a:p>
        </p:txBody>
      </p:sp>
      <p:sp>
        <p:nvSpPr>
          <p:cNvPr id="3" name="Slide Number"/>
          <p:cNvSpPr txBox="1"/>
          <p:nvPr/>
        </p:nvSpPr>
        <p:spPr>
          <a:xfrm>
            <a:off x="10850000" y="5996978"/>
            <a:ext cx="372000" cy="230000"/>
          </a:xfrm>
          <a:prstGeom prst="rect">
            <a:avLst/>
          </a:prstGeom>
          <a:noFill/>
        </p:spPr>
        <p:txBody>
          <a:bodyPr wrap="none" lIns="0" rIns="0" tIns="0" bIns="0">
            <a:spAutoFit/>
          </a:bodyPr>
          <a:lstStyle/>
          <a:p>
            <a:pPr algn="r"/>
            <a:fld id="{B6F15528-21DE-4FAA-801E-634DDDAF4B2B}" type="slidenum">
              <a:rPr lang="en-US" sz="1200">
                <a:solidFill>
                  <a:srgbClr val="3E3E3E"/>
                </a:solidFill>
                <a:latin typeface="Georgia"/>
              </a:rPr>
              <a:t>‹#›</a:t>
            </a:fld>
          </a:p>
        </p:txBody>
      </p:sp>
      <p:sp>
        <p:nvSpPr>
          <p:cNvPr id="4" name="Oval 3"/>
          <p:cNvSpPr/>
          <p:nvPr/>
        </p:nvSpPr>
        <p:spPr>
          <a:xfrm>
            <a:off x="502920" y="1298448"/>
            <a:ext cx="438912" cy="438912"/>
          </a:xfrm>
          <a:prstGeom prst="ellipse">
            <a:avLst/>
          </a:prstGeom>
          <a:solidFill>
            <a:srgbClr val="A3242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200"/>
              </a:spcAft>
            </a:pPr>
            <a:r>
              <a:rPr sz="1300" b="1" i="0">
                <a:solidFill>
                  <a:srgbClr val="FFFFFF"/>
                </a:solidFill>
                <a:latin typeface="Arial"/>
              </a:rPr>
              <a:t>1</a:t>
            </a:r>
          </a:p>
        </p:txBody>
      </p:sp>
      <p:sp>
        <p:nvSpPr>
          <p:cNvPr id="5" name="TextBox 4"/>
          <p:cNvSpPr txBox="1"/>
          <p:nvPr/>
        </p:nvSpPr>
        <p:spPr>
          <a:xfrm>
            <a:off x="1051560" y="1188720"/>
            <a:ext cx="4343400" cy="731520"/>
          </a:xfrm>
          <a:prstGeom prst="rect">
            <a:avLst/>
          </a:prstGeom>
          <a:noFill/>
        </p:spPr>
        <p:txBody>
          <a:bodyPr wrap="square" anchor="ctr" lIns="36576" rIns="36576" tIns="36576" bIns="36576"/>
          <a:lstStyle/>
          <a:p>
            <a:pPr algn="l">
              <a:spcAft>
                <a:spcPts val="0"/>
              </a:spcAft>
            </a:pPr>
            <a:r>
              <a:rPr sz="1400" b="1" i="0">
                <a:solidFill>
                  <a:srgbClr val="262626"/>
                </a:solidFill>
                <a:latin typeface="Arial"/>
              </a:rPr>
              <a:t>POST /uploads</a:t>
            </a:r>
          </a:p>
          <a:p>
            <a:pPr algn="l">
              <a:spcAft>
                <a:spcPts val="0"/>
              </a:spcAft>
            </a:pPr>
            <a:r>
              <a:rPr sz="1200" b="0" i="0">
                <a:solidFill>
                  <a:srgbClr val="262626"/>
                </a:solidFill>
                <a:latin typeface="Arial"/>
              </a:rPr>
              <a:t>Browser sends fileName, contentType, fileSize to DocumentAnalyticsAPI.</a:t>
            </a:r>
          </a:p>
        </p:txBody>
      </p:sp>
      <p:sp>
        <p:nvSpPr>
          <p:cNvPr id="6" name="Oval 5"/>
          <p:cNvSpPr/>
          <p:nvPr/>
        </p:nvSpPr>
        <p:spPr>
          <a:xfrm>
            <a:off x="502920" y="2048256"/>
            <a:ext cx="438912" cy="438912"/>
          </a:xfrm>
          <a:prstGeom prst="ellipse">
            <a:avLst/>
          </a:prstGeom>
          <a:solidFill>
            <a:srgbClr val="A3242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200"/>
              </a:spcAft>
            </a:pPr>
            <a:r>
              <a:rPr sz="1300" b="1" i="0">
                <a:solidFill>
                  <a:srgbClr val="FFFFFF"/>
                </a:solidFill>
                <a:latin typeface="Arial"/>
              </a:rPr>
              <a:t>2</a:t>
            </a:r>
          </a:p>
        </p:txBody>
      </p:sp>
      <p:sp>
        <p:nvSpPr>
          <p:cNvPr id="7" name="TextBox 6"/>
          <p:cNvSpPr txBox="1"/>
          <p:nvPr/>
        </p:nvSpPr>
        <p:spPr>
          <a:xfrm>
            <a:off x="1051560" y="1938528"/>
            <a:ext cx="4343400" cy="731520"/>
          </a:xfrm>
          <a:prstGeom prst="rect">
            <a:avLst/>
          </a:prstGeom>
          <a:noFill/>
        </p:spPr>
        <p:txBody>
          <a:bodyPr wrap="square" anchor="ctr" lIns="36576" rIns="36576" tIns="36576" bIns="36576"/>
          <a:lstStyle/>
          <a:p>
            <a:pPr algn="l">
              <a:spcAft>
                <a:spcPts val="0"/>
              </a:spcAft>
            </a:pPr>
            <a:r>
              <a:rPr sz="1400" b="1" i="0">
                <a:solidFill>
                  <a:srgbClr val="262626"/>
                </a:solidFill>
                <a:latin typeface="Arial"/>
              </a:rPr>
              <a:t>PENDING record</a:t>
            </a:r>
          </a:p>
          <a:p>
            <a:pPr algn="l">
              <a:spcAft>
                <a:spcPts val="0"/>
              </a:spcAft>
            </a:pPr>
            <a:r>
              <a:rPr sz="1200" b="0" i="0">
                <a:solidFill>
                  <a:srgbClr val="262626"/>
                </a:solidFill>
                <a:latin typeface="Arial"/>
              </a:rPr>
              <a:t>DocumentApi creates documentId (UUID) and writes a PENDING item.</a:t>
            </a:r>
          </a:p>
        </p:txBody>
      </p:sp>
      <p:sp>
        <p:nvSpPr>
          <p:cNvPr id="8" name="Oval 7"/>
          <p:cNvSpPr/>
          <p:nvPr/>
        </p:nvSpPr>
        <p:spPr>
          <a:xfrm>
            <a:off x="502920" y="2798064"/>
            <a:ext cx="438912" cy="438912"/>
          </a:xfrm>
          <a:prstGeom prst="ellipse">
            <a:avLst/>
          </a:prstGeom>
          <a:solidFill>
            <a:srgbClr val="A3242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200"/>
              </a:spcAft>
            </a:pPr>
            <a:r>
              <a:rPr sz="1300" b="1" i="0">
                <a:solidFill>
                  <a:srgbClr val="FFFFFF"/>
                </a:solidFill>
                <a:latin typeface="Arial"/>
              </a:rPr>
              <a:t>3</a:t>
            </a:r>
          </a:p>
        </p:txBody>
      </p:sp>
      <p:sp>
        <p:nvSpPr>
          <p:cNvPr id="9" name="TextBox 8"/>
          <p:cNvSpPr txBox="1"/>
          <p:nvPr/>
        </p:nvSpPr>
        <p:spPr>
          <a:xfrm>
            <a:off x="1051560" y="2688336"/>
            <a:ext cx="4343400" cy="731520"/>
          </a:xfrm>
          <a:prstGeom prst="rect">
            <a:avLst/>
          </a:prstGeom>
          <a:noFill/>
        </p:spPr>
        <p:txBody>
          <a:bodyPr wrap="square" anchor="ctr" lIns="36576" rIns="36576" tIns="36576" bIns="36576"/>
          <a:lstStyle/>
          <a:p>
            <a:pPr algn="l">
              <a:spcAft>
                <a:spcPts val="0"/>
              </a:spcAft>
            </a:pPr>
            <a:r>
              <a:rPr sz="1400" b="1" i="0">
                <a:solidFill>
                  <a:srgbClr val="262626"/>
                </a:solidFill>
                <a:latin typeface="Arial"/>
              </a:rPr>
              <a:t>Presigned URL</a:t>
            </a:r>
          </a:p>
          <a:p>
            <a:pPr algn="l">
              <a:spcAft>
                <a:spcPts val="0"/>
              </a:spcAft>
            </a:pPr>
            <a:r>
              <a:rPr sz="1200" b="0" i="0">
                <a:solidFill>
                  <a:srgbClr val="262626"/>
                </a:solidFill>
                <a:latin typeface="Arial"/>
              </a:rPr>
              <a:t>DocumentApi returns a short-lived PUT URL for incoming/&lt;documentId&gt;.txt.</a:t>
            </a:r>
          </a:p>
        </p:txBody>
      </p:sp>
      <p:sp>
        <p:nvSpPr>
          <p:cNvPr id="10" name="Oval 9"/>
          <p:cNvSpPr/>
          <p:nvPr/>
        </p:nvSpPr>
        <p:spPr>
          <a:xfrm>
            <a:off x="502920" y="3547872"/>
            <a:ext cx="438912" cy="438912"/>
          </a:xfrm>
          <a:prstGeom prst="ellipse">
            <a:avLst/>
          </a:prstGeom>
          <a:solidFill>
            <a:srgbClr val="A3242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200"/>
              </a:spcAft>
            </a:pPr>
            <a:r>
              <a:rPr sz="1300" b="1" i="0">
                <a:solidFill>
                  <a:srgbClr val="FFFFFF"/>
                </a:solidFill>
                <a:latin typeface="Arial"/>
              </a:rPr>
              <a:t>4</a:t>
            </a:r>
          </a:p>
        </p:txBody>
      </p:sp>
      <p:sp>
        <p:nvSpPr>
          <p:cNvPr id="11" name="TextBox 10"/>
          <p:cNvSpPr txBox="1"/>
          <p:nvPr/>
        </p:nvSpPr>
        <p:spPr>
          <a:xfrm>
            <a:off x="1051560" y="3438144"/>
            <a:ext cx="4343400" cy="731520"/>
          </a:xfrm>
          <a:prstGeom prst="rect">
            <a:avLst/>
          </a:prstGeom>
          <a:noFill/>
        </p:spPr>
        <p:txBody>
          <a:bodyPr wrap="square" anchor="ctr" lIns="36576" rIns="36576" tIns="36576" bIns="36576"/>
          <a:lstStyle/>
          <a:p>
            <a:pPr algn="l">
              <a:spcAft>
                <a:spcPts val="0"/>
              </a:spcAft>
            </a:pPr>
            <a:r>
              <a:rPr sz="1400" b="1" i="0">
                <a:solidFill>
                  <a:srgbClr val="262626"/>
                </a:solidFill>
                <a:latin typeface="Arial"/>
              </a:rPr>
              <a:t>Direct upload</a:t>
            </a:r>
          </a:p>
          <a:p>
            <a:pPr algn="l">
              <a:spcAft>
                <a:spcPts val="0"/>
              </a:spcAft>
            </a:pPr>
            <a:r>
              <a:rPr sz="1200" b="0" i="0">
                <a:solidFill>
                  <a:srgbClr val="262626"/>
                </a:solidFill>
                <a:latin typeface="Arial"/>
              </a:rPr>
              <a:t>Browser PUTs the file to S3; no AWS credentials in the browser.</a:t>
            </a:r>
          </a:p>
        </p:txBody>
      </p:sp>
      <p:sp>
        <p:nvSpPr>
          <p:cNvPr id="12" name="Oval 11"/>
          <p:cNvSpPr/>
          <p:nvPr/>
        </p:nvSpPr>
        <p:spPr>
          <a:xfrm>
            <a:off x="502920" y="4297680"/>
            <a:ext cx="438912" cy="438912"/>
          </a:xfrm>
          <a:prstGeom prst="ellipse">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200"/>
              </a:spcAft>
            </a:pPr>
            <a:r>
              <a:rPr sz="1300" b="1" i="0">
                <a:solidFill>
                  <a:srgbClr val="FFFFFF"/>
                </a:solidFill>
                <a:latin typeface="Arial"/>
              </a:rPr>
              <a:t>5</a:t>
            </a:r>
          </a:p>
        </p:txBody>
      </p:sp>
      <p:sp>
        <p:nvSpPr>
          <p:cNvPr id="13" name="TextBox 12"/>
          <p:cNvSpPr txBox="1"/>
          <p:nvPr/>
        </p:nvSpPr>
        <p:spPr>
          <a:xfrm>
            <a:off x="1051560" y="4187952"/>
            <a:ext cx="4343400" cy="731520"/>
          </a:xfrm>
          <a:prstGeom prst="rect">
            <a:avLst/>
          </a:prstGeom>
          <a:noFill/>
        </p:spPr>
        <p:txBody>
          <a:bodyPr wrap="square" anchor="ctr" lIns="36576" rIns="36576" tIns="36576" bIns="36576"/>
          <a:lstStyle/>
          <a:p>
            <a:pPr algn="l">
              <a:spcAft>
                <a:spcPts val="0"/>
              </a:spcAft>
            </a:pPr>
            <a:r>
              <a:rPr sz="1400" b="1" i="0">
                <a:solidFill>
                  <a:srgbClr val="262626"/>
                </a:solidFill>
                <a:latin typeface="Arial"/>
              </a:rPr>
              <a:t>Process</a:t>
            </a:r>
          </a:p>
          <a:p>
            <a:pPr algn="l">
              <a:spcAft>
                <a:spcPts val="0"/>
              </a:spcAft>
            </a:pPr>
            <a:r>
              <a:rPr sz="1200" b="0" i="0">
                <a:solidFill>
                  <a:srgbClr val="262626"/>
                </a:solidFill>
                <a:latin typeface="Arial"/>
              </a:rPr>
              <a:t>S3 event → DocumentProcessor reads the key, analyses text, updates the same item.</a:t>
            </a:r>
          </a:p>
        </p:txBody>
      </p:sp>
      <p:sp>
        <p:nvSpPr>
          <p:cNvPr id="14" name="Oval 13"/>
          <p:cNvSpPr/>
          <p:nvPr/>
        </p:nvSpPr>
        <p:spPr>
          <a:xfrm>
            <a:off x="502920" y="5047488"/>
            <a:ext cx="438912" cy="438912"/>
          </a:xfrm>
          <a:prstGeom prst="ellipse">
            <a:avLst/>
          </a:prstGeom>
          <a:solidFill>
            <a:srgbClr val="A3242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200"/>
              </a:spcAft>
            </a:pPr>
            <a:r>
              <a:rPr sz="1300" b="1" i="0">
                <a:solidFill>
                  <a:srgbClr val="FFFFFF"/>
                </a:solidFill>
                <a:latin typeface="Arial"/>
              </a:rPr>
              <a:t>6</a:t>
            </a:r>
          </a:p>
        </p:txBody>
      </p:sp>
      <p:sp>
        <p:nvSpPr>
          <p:cNvPr id="15" name="TextBox 14"/>
          <p:cNvSpPr txBox="1"/>
          <p:nvPr/>
        </p:nvSpPr>
        <p:spPr>
          <a:xfrm>
            <a:off x="1051560" y="4937759"/>
            <a:ext cx="4343400" cy="731520"/>
          </a:xfrm>
          <a:prstGeom prst="rect">
            <a:avLst/>
          </a:prstGeom>
          <a:noFill/>
        </p:spPr>
        <p:txBody>
          <a:bodyPr wrap="square" anchor="ctr" lIns="36576" rIns="36576" tIns="36576" bIns="36576"/>
          <a:lstStyle/>
          <a:p>
            <a:pPr algn="l">
              <a:spcAft>
                <a:spcPts val="0"/>
              </a:spcAft>
            </a:pPr>
            <a:r>
              <a:rPr sz="1400" b="1" i="0">
                <a:solidFill>
                  <a:srgbClr val="262626"/>
                </a:solidFill>
                <a:latin typeface="Arial"/>
              </a:rPr>
              <a:t>Poll</a:t>
            </a:r>
          </a:p>
          <a:p>
            <a:pPr algn="l">
              <a:spcAft>
                <a:spcPts val="0"/>
              </a:spcAft>
            </a:pPr>
            <a:r>
              <a:rPr sz="1200" b="0" i="0">
                <a:solidFill>
                  <a:srgbClr val="262626"/>
                </a:solidFill>
                <a:latin typeface="Arial"/>
              </a:rPr>
              <a:t>Dashboard polls GET /documents/{documentId} until the status changes.</a:t>
            </a:r>
          </a:p>
        </p:txBody>
      </p:sp>
      <p:pic>
        <p:nvPicPr>
          <p:cNvPr id="16" name="Main project screenshot" descr="main_dashboard.png"/>
          <p:cNvPicPr>
            <a:picLocks noChangeAspect="1"/>
          </p:cNvPicPr>
          <p:nvPr/>
        </p:nvPicPr>
        <p:blipFill>
          <a:blip r:embed="rId3"/>
          <a:stretch>
            <a:fillRect/>
          </a:stretch>
        </p:blipFill>
        <p:spPr>
          <a:xfrm>
            <a:off x="5669280" y="1188720"/>
            <a:ext cx="6035040" cy="2977412"/>
          </a:xfrm>
          <a:prstGeom prst="rect">
            <a:avLst/>
          </a:prstGeom>
          <a:ln w="9525">
            <a:solidFill>
              <a:srgbClr val="BFBFBF"/>
            </a:solidFill>
          </a:ln>
        </p:spPr>
      </p:pic>
      <p:sp>
        <p:nvSpPr>
          <p:cNvPr id="17" name="TextBox 16"/>
          <p:cNvSpPr txBox="1"/>
          <p:nvPr/>
        </p:nvSpPr>
        <p:spPr>
          <a:xfrm>
            <a:off x="5669280" y="4211851"/>
            <a:ext cx="6035040" cy="502920"/>
          </a:xfrm>
          <a:prstGeom prst="rect">
            <a:avLst/>
          </a:prstGeom>
          <a:noFill/>
        </p:spPr>
        <p:txBody>
          <a:bodyPr wrap="square" anchor="t" lIns="36576" rIns="36576" tIns="36576" bIns="36576"/>
          <a:lstStyle/>
          <a:p>
            <a:pPr algn="l">
              <a:spcAft>
                <a:spcPts val="0"/>
              </a:spcAft>
            </a:pPr>
            <a:r>
              <a:rPr sz="1100" b="0" i="1">
                <a:solidFill>
                  <a:srgbClr val="595959"/>
                </a:solidFill>
                <a:latin typeface="Arial"/>
              </a:rPr>
              <a:t>Figure: DocAnalytics dashboard reading DocumentAnalyticsV3 through DocumentAnalyticsAPI (ap-southeast-2), 14 Oct 2026, 02:08 IST: 6 documents, 5 processed, 1 pending, 0 failed.</a:t>
            </a:r>
          </a:p>
        </p:txBody>
      </p:sp>
      <p:sp>
        <p:nvSpPr>
          <p:cNvPr id="18" name="Rounded Rectangle 17"/>
          <p:cNvSpPr/>
          <p:nvPr/>
        </p:nvSpPr>
        <p:spPr>
          <a:xfrm>
            <a:off x="5669280" y="4833643"/>
            <a:ext cx="1234440" cy="329184"/>
          </a:xfrm>
          <a:prstGeom prst="roundRect">
            <a:avLst>
              <a:gd name="adj" fmla="val 50000"/>
            </a:avLst>
          </a:prstGeom>
          <a:solidFill>
            <a:srgbClr val="FFFFFF"/>
          </a:solidFill>
          <a:ln w="19050">
            <a:solidFill>
              <a:srgbClr val="B26A00"/>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200"/>
              </a:spcAft>
            </a:pPr>
            <a:r>
              <a:rPr sz="1100" b="1" i="0">
                <a:solidFill>
                  <a:srgbClr val="B26A00"/>
                </a:solidFill>
                <a:latin typeface="Arial"/>
              </a:rPr>
              <a:t>PENDING</a:t>
            </a:r>
          </a:p>
        </p:txBody>
      </p:sp>
      <p:cxnSp>
        <p:nvCxnSpPr>
          <p:cNvPr id="19" name="Connector 18"/>
          <p:cNvCxnSpPr/>
          <p:nvPr/>
        </p:nvCxnSpPr>
        <p:spPr>
          <a:xfrm>
            <a:off x="6949440" y="4998235"/>
            <a:ext cx="365760" cy="0"/>
          </a:xfrm>
          <a:prstGeom prst="line">
            <a:avLst/>
          </a:prstGeom>
          <a:ln w="19050">
            <a:solidFill>
              <a:srgbClr val="595959"/>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7360920" y="4833643"/>
            <a:ext cx="1234440" cy="329184"/>
          </a:xfrm>
          <a:prstGeom prst="roundRect">
            <a:avLst>
              <a:gd name="adj" fmla="val 50000"/>
            </a:avLst>
          </a:prstGeom>
          <a:solidFill>
            <a:srgbClr val="FFFFFF"/>
          </a:solidFill>
          <a:ln w="1905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200"/>
              </a:spcAft>
            </a:pPr>
            <a:r>
              <a:rPr sz="1100" b="1" i="0">
                <a:solidFill>
                  <a:srgbClr val="2E7D32"/>
                </a:solidFill>
                <a:latin typeface="Arial"/>
              </a:rPr>
              <a:t>COMPLETED</a:t>
            </a:r>
          </a:p>
        </p:txBody>
      </p:sp>
      <p:sp>
        <p:nvSpPr>
          <p:cNvPr id="21" name="Rounded Rectangle 20"/>
          <p:cNvSpPr/>
          <p:nvPr/>
        </p:nvSpPr>
        <p:spPr>
          <a:xfrm>
            <a:off x="8705088" y="4833643"/>
            <a:ext cx="1234440" cy="329184"/>
          </a:xfrm>
          <a:prstGeom prst="roundRect">
            <a:avLst>
              <a:gd name="adj" fmla="val 50000"/>
            </a:avLst>
          </a:prstGeom>
          <a:solidFill>
            <a:srgbClr val="FFFFFF"/>
          </a:solidFill>
          <a:ln w="19050">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200"/>
              </a:spcAft>
            </a:pPr>
            <a:r>
              <a:rPr sz="1100" b="1" i="0">
                <a:solidFill>
                  <a:srgbClr val="C00000"/>
                </a:solidFill>
                <a:latin typeface="Arial"/>
              </a:rPr>
              <a:t>FAILED</a:t>
            </a:r>
          </a:p>
        </p:txBody>
      </p:sp>
      <p:sp>
        <p:nvSpPr>
          <p:cNvPr id="22" name="TextBox 21"/>
          <p:cNvSpPr txBox="1"/>
          <p:nvPr/>
        </p:nvSpPr>
        <p:spPr>
          <a:xfrm>
            <a:off x="5669280" y="5217691"/>
            <a:ext cx="6035040" cy="457200"/>
          </a:xfrm>
          <a:prstGeom prst="rect">
            <a:avLst/>
          </a:prstGeom>
          <a:noFill/>
        </p:spPr>
        <p:txBody>
          <a:bodyPr wrap="square" anchor="t" lIns="36576" rIns="36576" tIns="36576" bIns="36576"/>
          <a:lstStyle/>
          <a:p>
            <a:pPr algn="l">
              <a:spcAft>
                <a:spcPts val="0"/>
              </a:spcAft>
            </a:pPr>
            <a:r>
              <a:rPr sz="1100" b="0" i="0">
                <a:solidFill>
                  <a:srgbClr val="262626"/>
                </a:solidFill>
                <a:latin typeface="Arial"/>
              </a:rPr>
              <a:t>Status lifecycle: PENDING → COMPLETED, or FAILED with an errorMessage if processing raises an error.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2819400" y="182880"/>
            <a:ext cx="7343775" cy="713232"/>
          </a:xfrm>
        </p:spPr>
        <p:txBody>
          <a:bodyPr wrap="square" anchor="ctr" lIns="0" rIns="0" tIns="0" bIns="0">
            <a:normAutofit/>
          </a:bodyPr>
          <a:lstStyle/>
          <a:p>
            <a:pPr algn="ctr"/>
            <a:r>
              <a:rPr sz="2800"/>
              <a:t>Document Analytics</a:t>
            </a:r>
          </a:p>
        </p:txBody>
      </p:sp>
      <p:sp>
        <p:nvSpPr>
          <p:cNvPr id="3" name="Slide Number"/>
          <p:cNvSpPr txBox="1"/>
          <p:nvPr/>
        </p:nvSpPr>
        <p:spPr>
          <a:xfrm>
            <a:off x="10850000" y="5996978"/>
            <a:ext cx="372000" cy="230000"/>
          </a:xfrm>
          <a:prstGeom prst="rect">
            <a:avLst/>
          </a:prstGeom>
          <a:noFill/>
        </p:spPr>
        <p:txBody>
          <a:bodyPr wrap="none" lIns="0" rIns="0" tIns="0" bIns="0">
            <a:spAutoFit/>
          </a:bodyPr>
          <a:lstStyle/>
          <a:p>
            <a:pPr algn="r"/>
            <a:fld id="{B6F15528-21DE-4FAA-801E-634DDDAF4B2B}" type="slidenum">
              <a:rPr lang="en-US" sz="1200">
                <a:solidFill>
                  <a:srgbClr val="3E3E3E"/>
                </a:solidFill>
                <a:latin typeface="Georgia"/>
              </a:rPr>
              <a:t>‹#›</a:t>
            </a:fld>
          </a:p>
        </p:txBody>
      </p:sp>
      <p:sp>
        <p:nvSpPr>
          <p:cNvPr id="4" name="Rounded Rectangle 3"/>
          <p:cNvSpPr/>
          <p:nvPr/>
        </p:nvSpPr>
        <p:spPr>
          <a:xfrm>
            <a:off x="502920" y="1188720"/>
            <a:ext cx="2834640" cy="1417320"/>
          </a:xfrm>
          <a:prstGeom prst="roundRect">
            <a:avLst>
              <a:gd name="adj" fmla="val 6000"/>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261872"/>
            <a:ext cx="2560320" cy="1280160"/>
          </a:xfrm>
          <a:prstGeom prst="rect">
            <a:avLst/>
          </a:prstGeom>
          <a:noFill/>
        </p:spPr>
        <p:txBody>
          <a:bodyPr wrap="square" anchor="t" lIns="36576" rIns="36576" tIns="36576" bIns="36576"/>
          <a:lstStyle/>
          <a:p>
            <a:pPr algn="l">
              <a:spcAft>
                <a:spcPts val="200"/>
              </a:spcAft>
            </a:pPr>
            <a:r>
              <a:rPr sz="1600" b="1" i="0">
                <a:solidFill>
                  <a:srgbClr val="A3242F"/>
                </a:solidFill>
                <a:latin typeface="Arial"/>
              </a:rPr>
              <a:t>Word count</a:t>
            </a:r>
          </a:p>
          <a:p>
            <a:pPr algn="l">
              <a:spcAft>
                <a:spcPts val="200"/>
              </a:spcAft>
            </a:pPr>
            <a:r>
              <a:rPr sz="1300" b="0" i="0">
                <a:solidFill>
                  <a:srgbClr val="262626"/>
                </a:solidFill>
                <a:latin typeface="Arial"/>
              </a:rPr>
              <a:t>Total words in the document.</a:t>
            </a:r>
          </a:p>
        </p:txBody>
      </p:sp>
      <p:sp>
        <p:nvSpPr>
          <p:cNvPr id="6" name="Rounded Rectangle 5"/>
          <p:cNvSpPr/>
          <p:nvPr/>
        </p:nvSpPr>
        <p:spPr>
          <a:xfrm>
            <a:off x="3520439" y="1188720"/>
            <a:ext cx="2834640" cy="1417320"/>
          </a:xfrm>
          <a:prstGeom prst="roundRect">
            <a:avLst>
              <a:gd name="adj" fmla="val 6000"/>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3657599" y="1261872"/>
            <a:ext cx="2560320" cy="1280160"/>
          </a:xfrm>
          <a:prstGeom prst="rect">
            <a:avLst/>
          </a:prstGeom>
          <a:noFill/>
        </p:spPr>
        <p:txBody>
          <a:bodyPr wrap="square" anchor="t" lIns="36576" rIns="36576" tIns="36576" bIns="36576"/>
          <a:lstStyle/>
          <a:p>
            <a:pPr algn="l">
              <a:spcAft>
                <a:spcPts val="200"/>
              </a:spcAft>
            </a:pPr>
            <a:r>
              <a:rPr sz="1600" b="1" i="0">
                <a:solidFill>
                  <a:srgbClr val="A3242F"/>
                </a:solidFill>
                <a:latin typeface="Arial"/>
              </a:rPr>
              <a:t>Character count</a:t>
            </a:r>
          </a:p>
          <a:p>
            <a:pPr algn="l">
              <a:spcAft>
                <a:spcPts val="200"/>
              </a:spcAft>
            </a:pPr>
            <a:r>
              <a:rPr sz="1300" b="0" i="0">
                <a:solidFill>
                  <a:srgbClr val="262626"/>
                </a:solidFill>
                <a:latin typeface="Arial"/>
              </a:rPr>
              <a:t>Length of the decoded text, including spaces and line breaks.</a:t>
            </a:r>
          </a:p>
        </p:txBody>
      </p:sp>
      <p:sp>
        <p:nvSpPr>
          <p:cNvPr id="8" name="Rounded Rectangle 7"/>
          <p:cNvSpPr/>
          <p:nvPr/>
        </p:nvSpPr>
        <p:spPr>
          <a:xfrm>
            <a:off x="502920" y="2788920"/>
            <a:ext cx="2834640" cy="1417320"/>
          </a:xfrm>
          <a:prstGeom prst="roundRect">
            <a:avLst>
              <a:gd name="adj" fmla="val 6000"/>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640080" y="2862072"/>
            <a:ext cx="2560320" cy="1280160"/>
          </a:xfrm>
          <a:prstGeom prst="rect">
            <a:avLst/>
          </a:prstGeom>
          <a:noFill/>
        </p:spPr>
        <p:txBody>
          <a:bodyPr wrap="square" anchor="t" lIns="36576" rIns="36576" tIns="36576" bIns="36576"/>
          <a:lstStyle/>
          <a:p>
            <a:pPr algn="l">
              <a:spcAft>
                <a:spcPts val="200"/>
              </a:spcAft>
            </a:pPr>
            <a:r>
              <a:rPr sz="1600" b="1" i="0">
                <a:solidFill>
                  <a:srgbClr val="A3242F"/>
                </a:solidFill>
                <a:latin typeface="Arial"/>
              </a:rPr>
              <a:t>Paragraph count</a:t>
            </a:r>
          </a:p>
          <a:p>
            <a:pPr algn="l">
              <a:spcAft>
                <a:spcPts val="200"/>
              </a:spcAft>
            </a:pPr>
            <a:r>
              <a:rPr sz="1300" b="0" i="0">
                <a:solidFill>
                  <a:srgbClr val="262626"/>
                </a:solidFill>
                <a:latin typeface="Arial"/>
              </a:rPr>
              <a:t>Blocks separated by one or more blank lines (regex split).</a:t>
            </a:r>
          </a:p>
        </p:txBody>
      </p:sp>
      <p:sp>
        <p:nvSpPr>
          <p:cNvPr id="10" name="Rounded Rectangle 9"/>
          <p:cNvSpPr/>
          <p:nvPr/>
        </p:nvSpPr>
        <p:spPr>
          <a:xfrm>
            <a:off x="3520439" y="2788920"/>
            <a:ext cx="2834640" cy="1417320"/>
          </a:xfrm>
          <a:prstGeom prst="roundRect">
            <a:avLst>
              <a:gd name="adj" fmla="val 6000"/>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3657599" y="2862072"/>
            <a:ext cx="2560320" cy="1280160"/>
          </a:xfrm>
          <a:prstGeom prst="rect">
            <a:avLst/>
          </a:prstGeom>
          <a:noFill/>
        </p:spPr>
        <p:txBody>
          <a:bodyPr wrap="square" anchor="t" lIns="36576" rIns="36576" tIns="36576" bIns="36576"/>
          <a:lstStyle/>
          <a:p>
            <a:pPr algn="l">
              <a:spcAft>
                <a:spcPts val="200"/>
              </a:spcAft>
            </a:pPr>
            <a:r>
              <a:rPr sz="1600" b="1" i="0">
                <a:solidFill>
                  <a:srgbClr val="A3242F"/>
                </a:solidFill>
                <a:latin typeface="Arial"/>
              </a:rPr>
              <a:t>Top 10 keywords</a:t>
            </a:r>
          </a:p>
          <a:p>
            <a:pPr algn="l">
              <a:spcAft>
                <a:spcPts val="200"/>
              </a:spcAft>
            </a:pPr>
            <a:r>
              <a:rPr sz="1300" b="0" i="0">
                <a:solidFill>
                  <a:srgbClr val="262626"/>
                </a:solidFill>
                <a:latin typeface="Arial"/>
              </a:rPr>
              <a:t>Lower-cased word tokens from a regex, stop words removed, ranked by frequency.</a:t>
            </a:r>
          </a:p>
        </p:txBody>
      </p:sp>
      <p:sp>
        <p:nvSpPr>
          <p:cNvPr id="12" name="TextBox 11"/>
          <p:cNvSpPr txBox="1"/>
          <p:nvPr/>
        </p:nvSpPr>
        <p:spPr>
          <a:xfrm>
            <a:off x="502920" y="4480560"/>
            <a:ext cx="5852160" cy="365760"/>
          </a:xfrm>
          <a:prstGeom prst="rect">
            <a:avLst/>
          </a:prstGeom>
          <a:noFill/>
        </p:spPr>
        <p:txBody>
          <a:bodyPr wrap="square" anchor="t" lIns="36576" rIns="36576" tIns="36576" bIns="36576"/>
          <a:lstStyle/>
          <a:p>
            <a:pPr algn="l">
              <a:spcAft>
                <a:spcPts val="400"/>
              </a:spcAft>
            </a:pPr>
            <a:r>
              <a:rPr sz="1400" b="1" i="0">
                <a:solidFill>
                  <a:srgbClr val="262626"/>
                </a:solidFill>
                <a:latin typeface="Arial"/>
              </a:rPr>
              <a:t>Processing steps in DocumentProcessor</a:t>
            </a:r>
          </a:p>
        </p:txBody>
      </p:sp>
      <p:sp>
        <p:nvSpPr>
          <p:cNvPr id="13" name="Rounded Rectangle 12"/>
          <p:cNvSpPr/>
          <p:nvPr/>
        </p:nvSpPr>
        <p:spPr>
          <a:xfrm>
            <a:off x="502920" y="4892040"/>
            <a:ext cx="1280160" cy="822960"/>
          </a:xfrm>
          <a:prstGeom prst="roundRect">
            <a:avLst>
              <a:gd name="adj" fmla="val 6000"/>
            </a:avLst>
          </a:prstGeom>
          <a:solidFill>
            <a:srgbClr val="F8E9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spcAft>
                <a:spcPts val="0"/>
              </a:spcAft>
            </a:pPr>
            <a:r>
              <a:rPr sz="1200" b="1" i="0">
                <a:solidFill>
                  <a:srgbClr val="262626"/>
                </a:solidFill>
                <a:latin typeface="Arial"/>
              </a:rPr>
              <a:t>Decode UTF-8</a:t>
            </a:r>
          </a:p>
          <a:p>
            <a:pPr algn="ctr">
              <a:spcAft>
                <a:spcPts val="0"/>
              </a:spcAft>
            </a:pPr>
            <a:r>
              <a:rPr sz="1200" b="1" i="0">
                <a:solidFill>
                  <a:srgbClr val="262626"/>
                </a:solidFill>
                <a:latin typeface="Arial"/>
              </a:rPr>
              <a:t>(BOM removed)</a:t>
            </a:r>
          </a:p>
        </p:txBody>
      </p:sp>
      <p:cxnSp>
        <p:nvCxnSpPr>
          <p:cNvPr id="14" name="Connector 13"/>
          <p:cNvCxnSpPr/>
          <p:nvPr/>
        </p:nvCxnSpPr>
        <p:spPr>
          <a:xfrm>
            <a:off x="1801368" y="5303520"/>
            <a:ext cx="192023" cy="0"/>
          </a:xfrm>
          <a:prstGeom prst="line">
            <a:avLst/>
          </a:prstGeom>
          <a:ln w="19050">
            <a:solidFill>
              <a:srgbClr val="595959"/>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2011680" y="4892040"/>
            <a:ext cx="1280160" cy="822960"/>
          </a:xfrm>
          <a:prstGeom prst="roundRect">
            <a:avLst>
              <a:gd name="adj" fmla="val 6000"/>
            </a:avLst>
          </a:prstGeom>
          <a:solidFill>
            <a:srgbClr val="F8E9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spcAft>
                <a:spcPts val="0"/>
              </a:spcAft>
            </a:pPr>
            <a:r>
              <a:rPr sz="1200" b="1" i="0">
                <a:solidFill>
                  <a:srgbClr val="262626"/>
                </a:solidFill>
                <a:latin typeface="Arial"/>
              </a:rPr>
              <a:t>Regex</a:t>
            </a:r>
          </a:p>
          <a:p>
            <a:pPr algn="ctr">
              <a:spcAft>
                <a:spcPts val="0"/>
              </a:spcAft>
            </a:pPr>
            <a:r>
              <a:rPr sz="1200" b="1" i="0">
                <a:solidFill>
                  <a:srgbClr val="262626"/>
                </a:solidFill>
                <a:latin typeface="Arial"/>
              </a:rPr>
              <a:t>tokenise</a:t>
            </a:r>
          </a:p>
        </p:txBody>
      </p:sp>
      <p:cxnSp>
        <p:nvCxnSpPr>
          <p:cNvPr id="16" name="Connector 15"/>
          <p:cNvCxnSpPr/>
          <p:nvPr/>
        </p:nvCxnSpPr>
        <p:spPr>
          <a:xfrm>
            <a:off x="3310128" y="5303520"/>
            <a:ext cx="192024" cy="0"/>
          </a:xfrm>
          <a:prstGeom prst="line">
            <a:avLst/>
          </a:prstGeom>
          <a:ln w="19050">
            <a:solidFill>
              <a:srgbClr val="595959"/>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3520439" y="4892040"/>
            <a:ext cx="1280160" cy="822960"/>
          </a:xfrm>
          <a:prstGeom prst="roundRect">
            <a:avLst>
              <a:gd name="adj" fmla="val 6000"/>
            </a:avLst>
          </a:prstGeom>
          <a:solidFill>
            <a:srgbClr val="F8E9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spcAft>
                <a:spcPts val="0"/>
              </a:spcAft>
            </a:pPr>
            <a:r>
              <a:rPr sz="1200" b="1" i="0">
                <a:solidFill>
                  <a:srgbClr val="262626"/>
                </a:solidFill>
                <a:latin typeface="Arial"/>
              </a:rPr>
              <a:t>Drop stop</a:t>
            </a:r>
          </a:p>
          <a:p>
            <a:pPr algn="ctr">
              <a:spcAft>
                <a:spcPts val="0"/>
              </a:spcAft>
            </a:pPr>
            <a:r>
              <a:rPr sz="1200" b="1" i="0">
                <a:solidFill>
                  <a:srgbClr val="262626"/>
                </a:solidFill>
                <a:latin typeface="Arial"/>
              </a:rPr>
              <a:t>words</a:t>
            </a:r>
          </a:p>
        </p:txBody>
      </p:sp>
      <p:cxnSp>
        <p:nvCxnSpPr>
          <p:cNvPr id="18" name="Connector 17"/>
          <p:cNvCxnSpPr/>
          <p:nvPr/>
        </p:nvCxnSpPr>
        <p:spPr>
          <a:xfrm>
            <a:off x="4818888" y="5303520"/>
            <a:ext cx="192024" cy="0"/>
          </a:xfrm>
          <a:prstGeom prst="line">
            <a:avLst/>
          </a:prstGeom>
          <a:ln w="19050">
            <a:solidFill>
              <a:srgbClr val="595959"/>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5029199" y="4892040"/>
            <a:ext cx="1280160" cy="822960"/>
          </a:xfrm>
          <a:prstGeom prst="roundRect">
            <a:avLst>
              <a:gd name="adj" fmla="val 6000"/>
            </a:avLst>
          </a:prstGeom>
          <a:solidFill>
            <a:srgbClr val="F8E9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spcAft>
                <a:spcPts val="0"/>
              </a:spcAft>
            </a:pPr>
            <a:r>
              <a:rPr sz="1200" b="1" i="0">
                <a:solidFill>
                  <a:srgbClr val="262626"/>
                </a:solidFill>
                <a:latin typeface="Arial"/>
              </a:rPr>
              <a:t>Count &amp;</a:t>
            </a:r>
          </a:p>
          <a:p>
            <a:pPr algn="ctr">
              <a:spcAft>
                <a:spcPts val="0"/>
              </a:spcAft>
            </a:pPr>
            <a:r>
              <a:rPr sz="1200" b="1" i="0">
                <a:solidFill>
                  <a:srgbClr val="262626"/>
                </a:solidFill>
                <a:latin typeface="Arial"/>
              </a:rPr>
              <a:t>rank top 10</a:t>
            </a:r>
          </a:p>
        </p:txBody>
      </p:sp>
      <p:sp>
        <p:nvSpPr>
          <p:cNvPr id="20" name="TextBox 19"/>
          <p:cNvSpPr txBox="1"/>
          <p:nvPr/>
        </p:nvSpPr>
        <p:spPr>
          <a:xfrm>
            <a:off x="6675120" y="1143000"/>
            <a:ext cx="1600200" cy="594360"/>
          </a:xfrm>
          <a:prstGeom prst="rect">
            <a:avLst/>
          </a:prstGeom>
          <a:noFill/>
        </p:spPr>
        <p:txBody>
          <a:bodyPr wrap="square" anchor="b" lIns="36576" rIns="36576" tIns="36576" bIns="36576"/>
          <a:lstStyle/>
          <a:p>
            <a:pPr algn="ctr">
              <a:spcAft>
                <a:spcPts val="0"/>
              </a:spcAft>
            </a:pPr>
            <a:r>
              <a:rPr sz="3400" b="1" i="0">
                <a:solidFill>
                  <a:srgbClr val="A3242F"/>
                </a:solidFill>
                <a:latin typeface="Arial"/>
              </a:rPr>
              <a:t>38</a:t>
            </a:r>
          </a:p>
        </p:txBody>
      </p:sp>
      <p:sp>
        <p:nvSpPr>
          <p:cNvPr id="21" name="TextBox 20"/>
          <p:cNvSpPr txBox="1"/>
          <p:nvPr/>
        </p:nvSpPr>
        <p:spPr>
          <a:xfrm>
            <a:off x="6675120" y="1737360"/>
            <a:ext cx="1600200" cy="274320"/>
          </a:xfrm>
          <a:prstGeom prst="rect">
            <a:avLst/>
          </a:prstGeom>
          <a:noFill/>
        </p:spPr>
        <p:txBody>
          <a:bodyPr wrap="square" anchor="t" lIns="36576" rIns="36576" tIns="36576" bIns="36576"/>
          <a:lstStyle/>
          <a:p>
            <a:pPr algn="ctr">
              <a:spcAft>
                <a:spcPts val="0"/>
              </a:spcAft>
            </a:pPr>
            <a:r>
              <a:rPr sz="1200" b="0" i="0">
                <a:solidFill>
                  <a:srgbClr val="595959"/>
                </a:solidFill>
                <a:latin typeface="Arial"/>
              </a:rPr>
              <a:t>words</a:t>
            </a:r>
          </a:p>
        </p:txBody>
      </p:sp>
      <p:sp>
        <p:nvSpPr>
          <p:cNvPr id="22" name="TextBox 21"/>
          <p:cNvSpPr txBox="1"/>
          <p:nvPr/>
        </p:nvSpPr>
        <p:spPr>
          <a:xfrm>
            <a:off x="8366760" y="1143000"/>
            <a:ext cx="1600200" cy="594360"/>
          </a:xfrm>
          <a:prstGeom prst="rect">
            <a:avLst/>
          </a:prstGeom>
          <a:noFill/>
        </p:spPr>
        <p:txBody>
          <a:bodyPr wrap="square" anchor="b" lIns="36576" rIns="36576" tIns="36576" bIns="36576"/>
          <a:lstStyle/>
          <a:p>
            <a:pPr algn="ctr">
              <a:spcAft>
                <a:spcPts val="0"/>
              </a:spcAft>
            </a:pPr>
            <a:r>
              <a:rPr sz="3400" b="1" i="0">
                <a:solidFill>
                  <a:srgbClr val="A3242F"/>
                </a:solidFill>
                <a:latin typeface="Arial"/>
              </a:rPr>
              <a:t>314</a:t>
            </a:r>
          </a:p>
        </p:txBody>
      </p:sp>
      <p:sp>
        <p:nvSpPr>
          <p:cNvPr id="23" name="TextBox 22"/>
          <p:cNvSpPr txBox="1"/>
          <p:nvPr/>
        </p:nvSpPr>
        <p:spPr>
          <a:xfrm>
            <a:off x="8366760" y="1737360"/>
            <a:ext cx="1600200" cy="274320"/>
          </a:xfrm>
          <a:prstGeom prst="rect">
            <a:avLst/>
          </a:prstGeom>
          <a:noFill/>
        </p:spPr>
        <p:txBody>
          <a:bodyPr wrap="square" anchor="t" lIns="36576" rIns="36576" tIns="36576" bIns="36576"/>
          <a:lstStyle/>
          <a:p>
            <a:pPr algn="ctr">
              <a:spcAft>
                <a:spcPts val="0"/>
              </a:spcAft>
            </a:pPr>
            <a:r>
              <a:rPr sz="1200" b="0" i="0">
                <a:solidFill>
                  <a:srgbClr val="595959"/>
                </a:solidFill>
                <a:latin typeface="Arial"/>
              </a:rPr>
              <a:t>characters</a:t>
            </a:r>
          </a:p>
        </p:txBody>
      </p:sp>
      <p:sp>
        <p:nvSpPr>
          <p:cNvPr id="24" name="TextBox 23"/>
          <p:cNvSpPr txBox="1"/>
          <p:nvPr/>
        </p:nvSpPr>
        <p:spPr>
          <a:xfrm>
            <a:off x="10058400" y="1143000"/>
            <a:ext cx="1600200" cy="594360"/>
          </a:xfrm>
          <a:prstGeom prst="rect">
            <a:avLst/>
          </a:prstGeom>
          <a:noFill/>
        </p:spPr>
        <p:txBody>
          <a:bodyPr wrap="square" anchor="b" lIns="36576" rIns="36576" tIns="36576" bIns="36576"/>
          <a:lstStyle/>
          <a:p>
            <a:pPr algn="ctr">
              <a:spcAft>
                <a:spcPts val="0"/>
              </a:spcAft>
            </a:pPr>
            <a:r>
              <a:rPr sz="3400" b="1" i="0">
                <a:solidFill>
                  <a:srgbClr val="A3242F"/>
                </a:solidFill>
                <a:latin typeface="Arial"/>
              </a:rPr>
              <a:t>4</a:t>
            </a:r>
          </a:p>
        </p:txBody>
      </p:sp>
      <p:sp>
        <p:nvSpPr>
          <p:cNvPr id="25" name="TextBox 24"/>
          <p:cNvSpPr txBox="1"/>
          <p:nvPr/>
        </p:nvSpPr>
        <p:spPr>
          <a:xfrm>
            <a:off x="10058400" y="1737360"/>
            <a:ext cx="1600200" cy="274320"/>
          </a:xfrm>
          <a:prstGeom prst="rect">
            <a:avLst/>
          </a:prstGeom>
          <a:noFill/>
        </p:spPr>
        <p:txBody>
          <a:bodyPr wrap="square" anchor="t" lIns="36576" rIns="36576" tIns="36576" bIns="36576"/>
          <a:lstStyle/>
          <a:p>
            <a:pPr algn="ctr">
              <a:spcAft>
                <a:spcPts val="0"/>
              </a:spcAft>
            </a:pPr>
            <a:r>
              <a:rPr sz="1200" b="0" i="0">
                <a:solidFill>
                  <a:srgbClr val="595959"/>
                </a:solidFill>
                <a:latin typeface="Arial"/>
              </a:rPr>
              <a:t>paragraphs</a:t>
            </a:r>
          </a:p>
        </p:txBody>
      </p:sp>
      <p:graphicFrame>
        <p:nvGraphicFramePr>
          <p:cNvPr id="26" name="Keyword chart"/>
          <p:cNvGraphicFramePr>
            <a:graphicFrameLocks noGrp="1"/>
          </p:cNvGraphicFramePr>
          <p:nvPr/>
        </p:nvGraphicFramePr>
        <p:xfrm>
          <a:off x="6675120" y="2103120"/>
          <a:ext cx="5029200" cy="3657600"/>
        </p:xfrm>
        <a:graphic>
          <a:graphicData uri="http://schemas.openxmlformats.org/drawingml/2006/chart">
            <c:chart xmlns:c="http://schemas.openxmlformats.org/drawingml/2006/chart" r:id="rId3"/>
          </a:graphicData>
        </a:graphic>
      </p:graphicFrame>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2819400" y="182880"/>
            <a:ext cx="7343775" cy="713232"/>
          </a:xfrm>
        </p:spPr>
        <p:txBody>
          <a:bodyPr wrap="square" anchor="ctr" lIns="0" rIns="0" tIns="0" bIns="0">
            <a:normAutofit/>
          </a:bodyPr>
          <a:lstStyle/>
          <a:p>
            <a:pPr algn="ctr"/>
            <a:r>
              <a:rPr sz="2800"/>
              <a:t>Results and Testing</a:t>
            </a:r>
          </a:p>
        </p:txBody>
      </p:sp>
      <p:sp>
        <p:nvSpPr>
          <p:cNvPr id="3" name="Slide Number"/>
          <p:cNvSpPr txBox="1"/>
          <p:nvPr/>
        </p:nvSpPr>
        <p:spPr>
          <a:xfrm>
            <a:off x="10850000" y="5996978"/>
            <a:ext cx="372000" cy="230000"/>
          </a:xfrm>
          <a:prstGeom prst="rect">
            <a:avLst/>
          </a:prstGeom>
          <a:noFill/>
        </p:spPr>
        <p:txBody>
          <a:bodyPr wrap="none" lIns="0" rIns="0" tIns="0" bIns="0">
            <a:spAutoFit/>
          </a:bodyPr>
          <a:lstStyle/>
          <a:p>
            <a:pPr algn="r"/>
            <a:fld id="{B6F15528-21DE-4FAA-801E-634DDDAF4B2B}" type="slidenum">
              <a:rPr lang="en-US" sz="1200">
                <a:solidFill>
                  <a:srgbClr val="3E3E3E"/>
                </a:solidFill>
                <a:latin typeface="Georgia"/>
              </a:rPr>
              <a:t>‹#›</a:t>
            </a:fld>
          </a:p>
        </p:txBody>
      </p:sp>
      <p:graphicFrame>
        <p:nvGraphicFramePr>
          <p:cNvPr id="4" name="Results table"/>
          <p:cNvGraphicFramePr>
            <a:graphicFrameLocks noGrp="1"/>
          </p:cNvGraphicFramePr>
          <p:nvPr/>
        </p:nvGraphicFramePr>
        <p:xfrm>
          <a:off x="502920" y="1188720"/>
          <a:ext cx="11201400" cy="4096512"/>
        </p:xfrm>
        <a:graphic>
          <a:graphicData uri="http://schemas.openxmlformats.org/drawingml/2006/table">
            <a:tbl>
              <a:tblPr firstRow="1" bandRow="0">
                <a:tableStyleId>{5C22544A-7EE6-4342-B048-85BDC9FD1C3A}</a:tableStyleId>
              </a:tblPr>
              <a:tblGrid>
                <a:gridCol w="411480"/>
                <a:gridCol w="4480560"/>
                <a:gridCol w="4937760"/>
                <a:gridCol w="1371600"/>
              </a:tblGrid>
              <a:tr h="512064">
                <a:tc>
                  <a:txBody>
                    <a:bodyPr wrap="square"/>
                    <a:lstStyle/>
                    <a:p>
                      <a:r>
                        <a:rPr sz="1300" b="1" i="0">
                          <a:solidFill>
                            <a:srgbClr val="FFFFFF"/>
                          </a:solidFill>
                          <a:latin typeface="Arial"/>
                        </a:rPr>
                        <a:t>#</a:t>
                      </a:r>
                    </a:p>
                  </a:txBody>
                  <a:tcPr marL="73152" marR="73152" marT="36576" marB="36576" anchor="ctr">
                    <a:solidFill>
                      <a:srgbClr val="A3242F"/>
                    </a:solidFill>
                  </a:tcPr>
                </a:tc>
                <a:tc>
                  <a:txBody>
                    <a:bodyPr wrap="square"/>
                    <a:lstStyle/>
                    <a:p>
                      <a:r>
                        <a:rPr sz="1300" b="1" i="0">
                          <a:solidFill>
                            <a:srgbClr val="FFFFFF"/>
                          </a:solidFill>
                          <a:latin typeface="Arial"/>
                        </a:rPr>
                        <a:t>Test (type)</a:t>
                      </a:r>
                    </a:p>
                  </a:txBody>
                  <a:tcPr marL="73152" marR="73152" marT="36576" marB="36576" anchor="ctr">
                    <a:solidFill>
                      <a:srgbClr val="A3242F"/>
                    </a:solidFill>
                  </a:tcPr>
                </a:tc>
                <a:tc>
                  <a:txBody>
                    <a:bodyPr wrap="square"/>
                    <a:lstStyle/>
                    <a:p>
                      <a:r>
                        <a:rPr sz="1300" b="1" i="0">
                          <a:solidFill>
                            <a:srgbClr val="FFFFFF"/>
                          </a:solidFill>
                          <a:latin typeface="Arial"/>
                        </a:rPr>
                        <a:t>Observed outcome</a:t>
                      </a:r>
                    </a:p>
                  </a:txBody>
                  <a:tcPr marL="73152" marR="73152" marT="36576" marB="36576" anchor="ctr">
                    <a:solidFill>
                      <a:srgbClr val="A3242F"/>
                    </a:solidFill>
                  </a:tcPr>
                </a:tc>
                <a:tc>
                  <a:txBody>
                    <a:bodyPr wrap="square"/>
                    <a:lstStyle/>
                    <a:p>
                      <a:r>
                        <a:rPr sz="1300" b="1" i="0">
                          <a:solidFill>
                            <a:srgbClr val="FFFFFF"/>
                          </a:solidFill>
                          <a:latin typeface="Arial"/>
                        </a:rPr>
                        <a:t>Status</a:t>
                      </a:r>
                    </a:p>
                  </a:txBody>
                  <a:tcPr marL="73152" marR="73152" marT="36576" marB="36576" anchor="ctr">
                    <a:solidFill>
                      <a:srgbClr val="A3242F"/>
                    </a:solidFill>
                  </a:tcPr>
                </a:tc>
              </a:tr>
              <a:tr h="512064">
                <a:tc>
                  <a:txBody>
                    <a:bodyPr wrap="square"/>
                    <a:lstStyle/>
                    <a:p>
                      <a:r>
                        <a:rPr sz="1200" b="0" i="0">
                          <a:solidFill>
                            <a:srgbClr val="262626"/>
                          </a:solidFill>
                          <a:latin typeface="Arial"/>
                        </a:rPr>
                        <a:t>1</a:t>
                      </a:r>
                    </a:p>
                  </a:txBody>
                  <a:tcPr marL="73152" marR="73152" marT="36576" marB="36576" anchor="ctr">
                    <a:solidFill>
                      <a:srgbClr val="FFFFFF"/>
                    </a:solidFill>
                  </a:tcPr>
                </a:tc>
                <a:tc>
                  <a:txBody>
                    <a:bodyPr wrap="square"/>
                    <a:lstStyle/>
                    <a:p>
                      <a:r>
                        <a:rPr sz="1200" b="0" i="0">
                          <a:solidFill>
                            <a:srgbClr val="262626"/>
                          </a:solidFill>
                          <a:latin typeface="Arial"/>
                        </a:rPr>
                        <a:t>DocumentProcessor console test, sample.txt (direct Lambda)</a:t>
                      </a:r>
                    </a:p>
                  </a:txBody>
                  <a:tcPr marL="73152" marR="73152" marT="36576" marB="36576" anchor="ctr">
                    <a:solidFill>
                      <a:srgbClr val="FFFFFF"/>
                    </a:solidFill>
                  </a:tcPr>
                </a:tc>
                <a:tc>
                  <a:txBody>
                    <a:bodyPr wrap="square"/>
                    <a:lstStyle/>
                    <a:p>
                      <a:r>
                        <a:rPr sz="1200" b="0" i="0">
                          <a:solidFill>
                            <a:srgbClr val="262626"/>
                          </a:solidFill>
                          <a:latin typeface="Arial"/>
                        </a:rPr>
                        <a:t>Succeeded: 38 words, 314 characters, 4 paragraphs, 10 keywords</a:t>
                      </a:r>
                    </a:p>
                  </a:txBody>
                  <a:tcPr marL="73152" marR="73152" marT="36576" marB="36576" anchor="ctr">
                    <a:solidFill>
                      <a:srgbClr val="FFFFFF"/>
                    </a:solidFill>
                  </a:tcPr>
                </a:tc>
                <a:tc>
                  <a:txBody>
                    <a:bodyPr wrap="square"/>
                    <a:lstStyle/>
                    <a:p>
                      <a:r>
                        <a:rPr sz="1200" b="1" i="0">
                          <a:solidFill>
                            <a:srgbClr val="2E7D32"/>
                          </a:solidFill>
                          <a:latin typeface="Arial"/>
                        </a:rPr>
                        <a:t>Verified</a:t>
                      </a:r>
                    </a:p>
                  </a:txBody>
                  <a:tcPr marL="73152" marR="73152" marT="36576" marB="36576" anchor="ctr">
                    <a:solidFill>
                      <a:srgbClr val="FFFFFF"/>
                    </a:solidFill>
                  </a:tcPr>
                </a:tc>
              </a:tr>
              <a:tr h="512064">
                <a:tc>
                  <a:txBody>
                    <a:bodyPr wrap="square"/>
                    <a:lstStyle/>
                    <a:p>
                      <a:r>
                        <a:rPr sz="1200" b="0" i="0">
                          <a:solidFill>
                            <a:srgbClr val="262626"/>
                          </a:solidFill>
                          <a:latin typeface="Arial"/>
                        </a:rPr>
                        <a:t>2</a:t>
                      </a:r>
                    </a:p>
                  </a:txBody>
                  <a:tcPr marL="73152" marR="73152" marT="36576" marB="36576" anchor="ctr">
                    <a:solidFill>
                      <a:srgbClr val="F3F3F3"/>
                    </a:solidFill>
                  </a:tcPr>
                </a:tc>
                <a:tc>
                  <a:txBody>
                    <a:bodyPr wrap="square"/>
                    <a:lstStyle/>
                    <a:p>
                      <a:r>
                        <a:rPr sz="1200" b="0" i="0">
                          <a:solidFill>
                            <a:srgbClr val="262626"/>
                          </a:solidFill>
                          <a:latin typeface="Arial"/>
                        </a:rPr>
                        <a:t>Console upload of automatic-test.txt to incoming/ (S3 trigger)</a:t>
                      </a:r>
                    </a:p>
                  </a:txBody>
                  <a:tcPr marL="73152" marR="73152" marT="36576" marB="36576" anchor="ctr">
                    <a:solidFill>
                      <a:srgbClr val="F3F3F3"/>
                    </a:solidFill>
                  </a:tcPr>
                </a:tc>
                <a:tc>
                  <a:txBody>
                    <a:bodyPr wrap="square"/>
                    <a:lstStyle/>
                    <a:p>
                      <a:r>
                        <a:rPr sz="1200" b="0" i="0">
                          <a:solidFill>
                            <a:srgbClr val="262626"/>
                          </a:solidFill>
                          <a:latin typeface="Arial"/>
                        </a:rPr>
                        <a:t>Processed automatically: 24 words, 159 characters, 1 paragraph</a:t>
                      </a:r>
                    </a:p>
                  </a:txBody>
                  <a:tcPr marL="73152" marR="73152" marT="36576" marB="36576" anchor="ctr">
                    <a:solidFill>
                      <a:srgbClr val="F3F3F3"/>
                    </a:solidFill>
                  </a:tcPr>
                </a:tc>
                <a:tc>
                  <a:txBody>
                    <a:bodyPr wrap="square"/>
                    <a:lstStyle/>
                    <a:p>
                      <a:r>
                        <a:rPr sz="1200" b="1" i="0">
                          <a:solidFill>
                            <a:srgbClr val="2E7D32"/>
                          </a:solidFill>
                          <a:latin typeface="Arial"/>
                        </a:rPr>
                        <a:t>Verified</a:t>
                      </a:r>
                    </a:p>
                  </a:txBody>
                  <a:tcPr marL="73152" marR="73152" marT="36576" marB="36576" anchor="ctr">
                    <a:solidFill>
                      <a:srgbClr val="F3F3F3"/>
                    </a:solidFill>
                  </a:tcPr>
                </a:tc>
              </a:tr>
              <a:tr h="512064">
                <a:tc>
                  <a:txBody>
                    <a:bodyPr wrap="square"/>
                    <a:lstStyle/>
                    <a:p>
                      <a:r>
                        <a:rPr sz="1200" b="0" i="0">
                          <a:solidFill>
                            <a:srgbClr val="262626"/>
                          </a:solidFill>
                          <a:latin typeface="Arial"/>
                        </a:rPr>
                        <a:t>3</a:t>
                      </a:r>
                    </a:p>
                  </a:txBody>
                  <a:tcPr marL="73152" marR="73152" marT="36576" marB="36576" anchor="ctr">
                    <a:solidFill>
                      <a:srgbClr val="FFFFFF"/>
                    </a:solidFill>
                  </a:tcPr>
                </a:tc>
                <a:tc>
                  <a:txBody>
                    <a:bodyPr wrap="square"/>
                    <a:lstStyle/>
                    <a:p>
                      <a:r>
                        <a:rPr sz="1200" b="0" i="0">
                          <a:solidFill>
                            <a:srgbClr val="262626"/>
                          </a:solidFill>
                          <a:latin typeface="Arial"/>
                        </a:rPr>
                        <a:t>GET /documents (API)</a:t>
                      </a:r>
                    </a:p>
                  </a:txBody>
                  <a:tcPr marL="73152" marR="73152" marT="36576" marB="36576" anchor="ctr">
                    <a:solidFill>
                      <a:srgbClr val="FFFFFF"/>
                    </a:solidFill>
                  </a:tcPr>
                </a:tc>
                <a:tc>
                  <a:txBody>
                    <a:bodyPr wrap="square"/>
                    <a:lstStyle/>
                    <a:p>
                      <a:r>
                        <a:rPr sz="1200" b="0" i="0">
                          <a:solidFill>
                            <a:srgbClr val="262626"/>
                          </a:solidFill>
                          <a:latin typeface="Arial"/>
                        </a:rPr>
                        <a:t>JSON list of the existing DynamoDB records</a:t>
                      </a:r>
                    </a:p>
                  </a:txBody>
                  <a:tcPr marL="73152" marR="73152" marT="36576" marB="36576" anchor="ctr">
                    <a:solidFill>
                      <a:srgbClr val="FFFFFF"/>
                    </a:solidFill>
                  </a:tcPr>
                </a:tc>
                <a:tc>
                  <a:txBody>
                    <a:bodyPr wrap="square"/>
                    <a:lstStyle/>
                    <a:p>
                      <a:r>
                        <a:rPr sz="1200" b="1" i="0">
                          <a:solidFill>
                            <a:srgbClr val="2E7D32"/>
                          </a:solidFill>
                          <a:latin typeface="Arial"/>
                        </a:rPr>
                        <a:t>Verified</a:t>
                      </a:r>
                    </a:p>
                  </a:txBody>
                  <a:tcPr marL="73152" marR="73152" marT="36576" marB="36576" anchor="ctr">
                    <a:solidFill>
                      <a:srgbClr val="FFFFFF"/>
                    </a:solidFill>
                  </a:tcPr>
                </a:tc>
              </a:tr>
              <a:tr h="512064">
                <a:tc>
                  <a:txBody>
                    <a:bodyPr wrap="square"/>
                    <a:lstStyle/>
                    <a:p>
                      <a:r>
                        <a:rPr sz="1200" b="0" i="0">
                          <a:solidFill>
                            <a:srgbClr val="262626"/>
                          </a:solidFill>
                          <a:latin typeface="Arial"/>
                        </a:rPr>
                        <a:t>4</a:t>
                      </a:r>
                    </a:p>
                  </a:txBody>
                  <a:tcPr marL="73152" marR="73152" marT="36576" marB="36576" anchor="ctr">
                    <a:solidFill>
                      <a:srgbClr val="F3F3F3"/>
                    </a:solidFill>
                  </a:tcPr>
                </a:tc>
                <a:tc>
                  <a:txBody>
                    <a:bodyPr wrap="square"/>
                    <a:lstStyle/>
                    <a:p>
                      <a:r>
                        <a:rPr sz="1200" b="0" i="0">
                          <a:solidFill>
                            <a:srgbClr val="262626"/>
                          </a:solidFill>
                          <a:latin typeface="Arial"/>
                        </a:rPr>
                        <a:t>POST /uploads for api-test.txt (API)</a:t>
                      </a:r>
                    </a:p>
                  </a:txBody>
                  <a:tcPr marL="73152" marR="73152" marT="36576" marB="36576" anchor="ctr">
                    <a:solidFill>
                      <a:srgbClr val="F3F3F3"/>
                    </a:solidFill>
                  </a:tcPr>
                </a:tc>
                <a:tc>
                  <a:txBody>
                    <a:bodyPr wrap="square"/>
                    <a:lstStyle/>
                    <a:p>
                      <a:r>
                        <a:rPr sz="1200" b="0" i="0">
                          <a:solidFill>
                            <a:srgbClr val="262626"/>
                          </a:solidFill>
                          <a:latin typeface="Arial"/>
                        </a:rPr>
                        <a:t>PENDING item + presigned URL; no file was PUT, so it stays PENDING</a:t>
                      </a:r>
                    </a:p>
                  </a:txBody>
                  <a:tcPr marL="73152" marR="73152" marT="36576" marB="36576" anchor="ctr">
                    <a:solidFill>
                      <a:srgbClr val="F3F3F3"/>
                    </a:solidFill>
                  </a:tcPr>
                </a:tc>
                <a:tc>
                  <a:txBody>
                    <a:bodyPr wrap="square"/>
                    <a:lstStyle/>
                    <a:p>
                      <a:r>
                        <a:rPr sz="1200" b="1" i="0">
                          <a:solidFill>
                            <a:srgbClr val="B26A00"/>
                          </a:solidFill>
                          <a:latin typeface="Arial"/>
                        </a:rPr>
                        <a:t>As designed</a:t>
                      </a:r>
                    </a:p>
                  </a:txBody>
                  <a:tcPr marL="73152" marR="73152" marT="36576" marB="36576" anchor="ctr">
                    <a:solidFill>
                      <a:srgbClr val="F3F3F3"/>
                    </a:solidFill>
                  </a:tcPr>
                </a:tc>
              </a:tr>
              <a:tr h="512064">
                <a:tc>
                  <a:txBody>
                    <a:bodyPr wrap="square"/>
                    <a:lstStyle/>
                    <a:p>
                      <a:r>
                        <a:rPr sz="1200" b="0" i="0">
                          <a:solidFill>
                            <a:srgbClr val="262626"/>
                          </a:solidFill>
                          <a:latin typeface="Arial"/>
                        </a:rPr>
                        <a:t>5</a:t>
                      </a:r>
                    </a:p>
                  </a:txBody>
                  <a:tcPr marL="73152" marR="73152" marT="36576" marB="36576" anchor="ctr">
                    <a:solidFill>
                      <a:srgbClr val="FFFFFF"/>
                    </a:solidFill>
                  </a:tcPr>
                </a:tc>
                <a:tc>
                  <a:txBody>
                    <a:bodyPr wrap="square"/>
                    <a:lstStyle/>
                    <a:p>
                      <a:r>
                        <a:rPr sz="1200" b="0" i="0">
                          <a:solidFill>
                            <a:srgbClr val="262626"/>
                          </a:solidFill>
                          <a:latin typeface="Arial"/>
                        </a:rPr>
                        <a:t>API CORS check (CloudShell + console)</a:t>
                      </a:r>
                    </a:p>
                  </a:txBody>
                  <a:tcPr marL="73152" marR="73152" marT="36576" marB="36576" anchor="ctr">
                    <a:solidFill>
                      <a:srgbClr val="FFFFFF"/>
                    </a:solidFill>
                  </a:tcPr>
                </a:tc>
                <a:tc>
                  <a:txBody>
                    <a:bodyPr wrap="square"/>
                    <a:lstStyle/>
                    <a:p>
                      <a:r>
                        <a:rPr sz="1200" b="0" i="0">
                          <a:solidFill>
                            <a:srgbClr val="262626"/>
                          </a:solidFill>
                          <a:latin typeface="Arial"/>
                        </a:rPr>
                        <a:t>GET/POST/OPTIONS allowed; origin http://localhost:8080 added</a:t>
                      </a:r>
                    </a:p>
                  </a:txBody>
                  <a:tcPr marL="73152" marR="73152" marT="36576" marB="36576" anchor="ctr">
                    <a:solidFill>
                      <a:srgbClr val="FFFFFF"/>
                    </a:solidFill>
                  </a:tcPr>
                </a:tc>
                <a:tc>
                  <a:txBody>
                    <a:bodyPr wrap="square"/>
                    <a:lstStyle/>
                    <a:p>
                      <a:r>
                        <a:rPr sz="1200" b="1" i="0">
                          <a:solidFill>
                            <a:srgbClr val="2E7D32"/>
                          </a:solidFill>
                          <a:latin typeface="Arial"/>
                        </a:rPr>
                        <a:t>Verified</a:t>
                      </a:r>
                    </a:p>
                  </a:txBody>
                  <a:tcPr marL="73152" marR="73152" marT="36576" marB="36576" anchor="ctr">
                    <a:solidFill>
                      <a:srgbClr val="FFFFFF"/>
                    </a:solidFill>
                  </a:tcPr>
                </a:tc>
              </a:tr>
              <a:tr h="512064">
                <a:tc>
                  <a:txBody>
                    <a:bodyPr wrap="square"/>
                    <a:lstStyle/>
                    <a:p>
                      <a:r>
                        <a:rPr sz="1200" b="0" i="0">
                          <a:solidFill>
                            <a:srgbClr val="262626"/>
                          </a:solidFill>
                          <a:latin typeface="Arial"/>
                        </a:rPr>
                        <a:t>6</a:t>
                      </a:r>
                    </a:p>
                  </a:txBody>
                  <a:tcPr marL="73152" marR="73152" marT="36576" marB="36576" anchor="ctr">
                    <a:solidFill>
                      <a:srgbClr val="F3F3F3"/>
                    </a:solidFill>
                  </a:tcPr>
                </a:tc>
                <a:tc>
                  <a:txBody>
                    <a:bodyPr wrap="square"/>
                    <a:lstStyle/>
                    <a:p>
                      <a:r>
                        <a:rPr sz="1200" b="0" i="0">
                          <a:solidFill>
                            <a:srgbClr val="262626"/>
                          </a:solidFill>
                          <a:latin typeface="Arial"/>
                        </a:rPr>
                        <a:t>Dashboard list, 02:03 IST (browser)</a:t>
                      </a:r>
                    </a:p>
                  </a:txBody>
                  <a:tcPr marL="73152" marR="73152" marT="36576" marB="36576" anchor="ctr">
                    <a:solidFill>
                      <a:srgbClr val="F3F3F3"/>
                    </a:solidFill>
                  </a:tcPr>
                </a:tc>
                <a:tc>
                  <a:txBody>
                    <a:bodyPr wrap="square"/>
                    <a:lstStyle/>
                    <a:p>
                      <a:r>
                        <a:rPr sz="1200" b="0" i="0">
                          <a:solidFill>
                            <a:srgbClr val="262626"/>
                          </a:solidFill>
                          <a:latin typeface="Arial"/>
                        </a:rPr>
                        <a:t>5 records: 4 processed, 1 pending</a:t>
                      </a:r>
                    </a:p>
                  </a:txBody>
                  <a:tcPr marL="73152" marR="73152" marT="36576" marB="36576" anchor="ctr">
                    <a:solidFill>
                      <a:srgbClr val="F3F3F3"/>
                    </a:solidFill>
                  </a:tcPr>
                </a:tc>
                <a:tc>
                  <a:txBody>
                    <a:bodyPr wrap="square"/>
                    <a:lstStyle/>
                    <a:p>
                      <a:r>
                        <a:rPr sz="1200" b="1" i="0">
                          <a:solidFill>
                            <a:srgbClr val="2E7D32"/>
                          </a:solidFill>
                          <a:latin typeface="Arial"/>
                        </a:rPr>
                        <a:t>Verified</a:t>
                      </a:r>
                    </a:p>
                  </a:txBody>
                  <a:tcPr marL="73152" marR="73152" marT="36576" marB="36576" anchor="ctr">
                    <a:solidFill>
                      <a:srgbClr val="F3F3F3"/>
                    </a:solidFill>
                  </a:tcPr>
                </a:tc>
              </a:tr>
              <a:tr h="512064">
                <a:tc>
                  <a:txBody>
                    <a:bodyPr wrap="square"/>
                    <a:lstStyle/>
                    <a:p>
                      <a:r>
                        <a:rPr sz="1200" b="0" i="0">
                          <a:solidFill>
                            <a:srgbClr val="262626"/>
                          </a:solidFill>
                          <a:latin typeface="Arial"/>
                        </a:rPr>
                        <a:t>7</a:t>
                      </a:r>
                    </a:p>
                  </a:txBody>
                  <a:tcPr marL="73152" marR="73152" marT="36576" marB="36576" anchor="ctr">
                    <a:solidFill>
                      <a:srgbClr val="FFFFFF"/>
                    </a:solidFill>
                  </a:tcPr>
                </a:tc>
                <a:tc>
                  <a:txBody>
                    <a:bodyPr wrap="square"/>
                    <a:lstStyle/>
                    <a:p>
                      <a:r>
                        <a:rPr sz="1200" b="0" i="0">
                          <a:solidFill>
                            <a:srgbClr val="262626"/>
                          </a:solidFill>
                          <a:latin typeface="Arial"/>
                        </a:rPr>
                        <a:t>Upload of hm.txt, 32 KB, 02:05 IST (end to end)</a:t>
                      </a:r>
                    </a:p>
                  </a:txBody>
                  <a:tcPr marL="73152" marR="73152" marT="36576" marB="36576" anchor="ctr">
                    <a:solidFill>
                      <a:srgbClr val="FFFFFF"/>
                    </a:solidFill>
                  </a:tcPr>
                </a:tc>
                <a:tc>
                  <a:txBody>
                    <a:bodyPr wrap="square"/>
                    <a:lstStyle/>
                    <a:p>
                      <a:r>
                        <a:rPr sz="1200" b="0" i="0">
                          <a:solidFill>
                            <a:srgbClr val="262626"/>
                          </a:solidFill>
                          <a:latin typeface="Arial"/>
                        </a:rPr>
                        <a:t>Same-minute processing: 3,388 words, 32,746 characters, 156 paragraphs</a:t>
                      </a:r>
                    </a:p>
                  </a:txBody>
                  <a:tcPr marL="73152" marR="73152" marT="36576" marB="36576" anchor="ctr">
                    <a:solidFill>
                      <a:srgbClr val="FFFFFF"/>
                    </a:solidFill>
                  </a:tcPr>
                </a:tc>
                <a:tc>
                  <a:txBody>
                    <a:bodyPr wrap="square"/>
                    <a:lstStyle/>
                    <a:p>
                      <a:r>
                        <a:rPr sz="1200" b="1" i="0">
                          <a:solidFill>
                            <a:srgbClr val="2E7D32"/>
                          </a:solidFill>
                          <a:latin typeface="Arial"/>
                        </a:rPr>
                        <a:t>Verified*</a:t>
                      </a:r>
                    </a:p>
                  </a:txBody>
                  <a:tcPr marL="73152" marR="73152" marT="36576" marB="36576" anchor="ctr">
                    <a:solidFill>
                      <a:srgbClr val="FFFFFF"/>
                    </a:solidFill>
                  </a:tcPr>
                </a:tc>
              </a:tr>
            </a:tbl>
          </a:graphicData>
        </a:graphic>
      </p:graphicFrame>
      <p:sp>
        <p:nvSpPr>
          <p:cNvPr id="5" name="TextBox 4"/>
          <p:cNvSpPr txBox="1"/>
          <p:nvPr/>
        </p:nvSpPr>
        <p:spPr>
          <a:xfrm>
            <a:off x="502920" y="5349240"/>
            <a:ext cx="11201400" cy="502920"/>
          </a:xfrm>
          <a:prstGeom prst="rect">
            <a:avLst/>
          </a:prstGeom>
          <a:noFill/>
        </p:spPr>
        <p:txBody>
          <a:bodyPr wrap="square" anchor="t" lIns="36576" rIns="36576" tIns="36576" bIns="36576"/>
          <a:lstStyle/>
          <a:p>
            <a:pPr algn="l">
              <a:spcAft>
                <a:spcPts val="0"/>
              </a:spcAft>
            </a:pPr>
            <a:r>
              <a:rPr sz="1100" b="0" i="1">
                <a:solidFill>
                  <a:srgbClr val="595959"/>
                </a:solidFill>
                <a:latin typeface="Arial"/>
              </a:rPr>
              <a:t>* Confirmed by the UUID-keyed DynamoDB record and the dashboard (6 total, 5 processed, 1 pending, 0 failed); its CloudWatch log was not captured. Not yet tested: oversized or non-TXT rejection on the deployed API, the FAILED path, and load or performance.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2819400" y="182880"/>
            <a:ext cx="7343775" cy="713232"/>
          </a:xfrm>
        </p:spPr>
        <p:txBody>
          <a:bodyPr wrap="square" anchor="ctr" lIns="0" rIns="0" tIns="0" bIns="0">
            <a:normAutofit/>
          </a:bodyPr>
          <a:lstStyle/>
          <a:p>
            <a:pPr algn="ctr"/>
            <a:r>
              <a:rPr sz="2800"/>
              <a:t>Security, Reliability and Limitations</a:t>
            </a:r>
          </a:p>
        </p:txBody>
      </p:sp>
      <p:sp>
        <p:nvSpPr>
          <p:cNvPr id="3" name="Slide Number"/>
          <p:cNvSpPr txBox="1"/>
          <p:nvPr/>
        </p:nvSpPr>
        <p:spPr>
          <a:xfrm>
            <a:off x="10850000" y="5996978"/>
            <a:ext cx="372000" cy="230000"/>
          </a:xfrm>
          <a:prstGeom prst="rect">
            <a:avLst/>
          </a:prstGeom>
          <a:noFill/>
        </p:spPr>
        <p:txBody>
          <a:bodyPr wrap="none" lIns="0" rIns="0" tIns="0" bIns="0">
            <a:spAutoFit/>
          </a:bodyPr>
          <a:lstStyle/>
          <a:p>
            <a:pPr algn="r"/>
            <a:fld id="{B6F15528-21DE-4FAA-801E-634DDDAF4B2B}" type="slidenum">
              <a:rPr lang="en-US" sz="1200">
                <a:solidFill>
                  <a:srgbClr val="3E3E3E"/>
                </a:solidFill>
                <a:latin typeface="Georgia"/>
              </a:rPr>
              <a:t>‹#›</a:t>
            </a:fld>
          </a:p>
        </p:txBody>
      </p:sp>
      <p:sp>
        <p:nvSpPr>
          <p:cNvPr id="4" name="Rounded Rectangle 3"/>
          <p:cNvSpPr/>
          <p:nvPr/>
        </p:nvSpPr>
        <p:spPr>
          <a:xfrm>
            <a:off x="502920" y="1188720"/>
            <a:ext cx="5486400" cy="3794760"/>
          </a:xfrm>
          <a:prstGeom prst="roundRect">
            <a:avLst>
              <a:gd name="adj" fmla="val 6000"/>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85800" y="1280160"/>
            <a:ext cx="5120640" cy="411480"/>
          </a:xfrm>
          <a:prstGeom prst="rect">
            <a:avLst/>
          </a:prstGeom>
          <a:noFill/>
        </p:spPr>
        <p:txBody>
          <a:bodyPr wrap="square" anchor="t" lIns="36576" rIns="36576" tIns="36576" bIns="36576"/>
          <a:lstStyle/>
          <a:p>
            <a:pPr algn="l">
              <a:spcAft>
                <a:spcPts val="400"/>
              </a:spcAft>
            </a:pPr>
            <a:r>
              <a:rPr sz="1800" b="1" i="0">
                <a:solidFill>
                  <a:srgbClr val="2E7D32"/>
                </a:solidFill>
                <a:latin typeface="Arial"/>
              </a:rPr>
              <a:t>Implemented</a:t>
            </a:r>
          </a:p>
        </p:txBody>
      </p:sp>
      <p:sp>
        <p:nvSpPr>
          <p:cNvPr id="6" name="TextBox 5"/>
          <p:cNvSpPr txBox="1"/>
          <p:nvPr/>
        </p:nvSpPr>
        <p:spPr>
          <a:xfrm>
            <a:off x="685800" y="1737360"/>
            <a:ext cx="5166360" cy="3200400"/>
          </a:xfrm>
          <a:prstGeom prst="rect">
            <a:avLst/>
          </a:prstGeom>
          <a:noFill/>
        </p:spPr>
        <p:txBody>
          <a:bodyPr wrap="square" anchor="t" lIns="36576" rIns="36576" tIns="36576" bIns="36576"/>
          <a:lstStyle/>
          <a:p>
            <a:pPr algn="l" marL="201168" indent="-201168">
              <a:spcAft>
                <a:spcPts val="700"/>
              </a:spcAft>
              <a:buFont typeface="Arial"/>
              <a:buChar char="•"/>
            </a:pPr>
            <a:r>
              <a:rPr sz="1300" b="1" i="0">
                <a:solidFill>
                  <a:srgbClr val="262626"/>
                </a:solidFill>
                <a:latin typeface="Arial"/>
              </a:rPr>
              <a:t>Private bucket: </a:t>
            </a:r>
            <a:r>
              <a:rPr sz="1300" b="0" i="0">
                <a:solidFill>
                  <a:srgbClr val="262626"/>
                </a:solidFill>
                <a:latin typeface="Arial"/>
              </a:rPr>
              <a:t>Block Public Access left at its default; no public object URLs.</a:t>
            </a:r>
          </a:p>
          <a:p>
            <a:pPr algn="l" marL="201168" indent="-201168">
              <a:spcAft>
                <a:spcPts val="700"/>
              </a:spcAft>
              <a:buFont typeface="Arial"/>
              <a:buChar char="•"/>
            </a:pPr>
            <a:r>
              <a:rPr sz="1300" b="1" i="0">
                <a:solidFill>
                  <a:srgbClr val="262626"/>
                </a:solidFill>
                <a:latin typeface="Arial"/>
              </a:rPr>
              <a:t>Presigned PUT URLs: </a:t>
            </a:r>
            <a:r>
              <a:rPr sz="1300" b="0" i="0">
                <a:solidFill>
                  <a:srgbClr val="262626"/>
                </a:solidFill>
                <a:latin typeface="Arial"/>
              </a:rPr>
              <a:t>short-lived and scoped to one key, incoming/&lt;documentId&gt;.txt.</a:t>
            </a:r>
          </a:p>
          <a:p>
            <a:pPr algn="l" marL="201168" indent="-201168">
              <a:spcAft>
                <a:spcPts val="700"/>
              </a:spcAft>
              <a:buFont typeface="Arial"/>
              <a:buChar char="•"/>
            </a:pPr>
            <a:r>
              <a:rPr sz="1300" b="1" i="0">
                <a:solidFill>
                  <a:srgbClr val="262626"/>
                </a:solidFill>
                <a:latin typeface="Arial"/>
              </a:rPr>
              <a:t>CORS: </a:t>
            </a:r>
            <a:r>
              <a:rPr sz="1300" b="0" i="0">
                <a:solidFill>
                  <a:srgbClr val="262626"/>
                </a:solidFill>
                <a:latin typeface="Arial"/>
              </a:rPr>
              <a:t>API allows GET, POST, OPTIONS; API and S3 accept the http://localhost:8080 origin.</a:t>
            </a:r>
          </a:p>
          <a:p>
            <a:pPr algn="l" marL="201168" indent="-201168">
              <a:spcAft>
                <a:spcPts val="700"/>
              </a:spcAft>
              <a:buFont typeface="Arial"/>
              <a:buChar char="•"/>
            </a:pPr>
            <a:r>
              <a:rPr sz="1300" b="1" i="0">
                <a:solidFill>
                  <a:srgbClr val="262626"/>
                </a:solidFill>
                <a:latin typeface="Arial"/>
              </a:rPr>
              <a:t>Input limits: </a:t>
            </a:r>
            <a:r>
              <a:rPr sz="1300" b="0" i="0">
                <a:solidFill>
                  <a:srgbClr val="262626"/>
                </a:solidFill>
                <a:latin typeface="Arial"/>
              </a:rPr>
              <a:t>TXT only, 1 MB maximum, checked in the browser and in DocumentApi.</a:t>
            </a:r>
          </a:p>
          <a:p>
            <a:pPr algn="l" marL="201168" indent="-201168">
              <a:spcAft>
                <a:spcPts val="700"/>
              </a:spcAft>
              <a:buFont typeface="Arial"/>
              <a:buChar char="•"/>
            </a:pPr>
            <a:r>
              <a:rPr sz="1300" b="1" i="0">
                <a:solidFill>
                  <a:srgbClr val="262626"/>
                </a:solidFill>
                <a:latin typeface="Arial"/>
              </a:rPr>
              <a:t>Lambda execution roles </a:t>
            </a:r>
            <a:r>
              <a:rPr sz="1300" b="0" i="0">
                <a:solidFill>
                  <a:srgbClr val="262626"/>
                </a:solidFill>
                <a:latin typeface="Arial"/>
              </a:rPr>
              <a:t>with CloudWatch Logs for troubleshooting.</a:t>
            </a:r>
          </a:p>
          <a:p>
            <a:pPr algn="l" marL="201168" indent="-201168">
              <a:spcAft>
                <a:spcPts val="700"/>
              </a:spcAft>
              <a:buFont typeface="Arial"/>
              <a:buChar char="•"/>
            </a:pPr>
            <a:r>
              <a:rPr sz="1300" b="1" i="0">
                <a:solidFill>
                  <a:srgbClr val="262626"/>
                </a:solidFill>
                <a:latin typeface="Arial"/>
              </a:rPr>
              <a:t>Status tracking: </a:t>
            </a:r>
            <a:r>
              <a:rPr sz="1300" b="0" i="0">
                <a:solidFill>
                  <a:srgbClr val="262626"/>
                </a:solidFill>
                <a:latin typeface="Arial"/>
              </a:rPr>
              <a:t>PENDING → COMPLETED or FAILED with an error message.</a:t>
            </a:r>
          </a:p>
        </p:txBody>
      </p:sp>
      <p:sp>
        <p:nvSpPr>
          <p:cNvPr id="7" name="Rounded Rectangle 6"/>
          <p:cNvSpPr/>
          <p:nvPr/>
        </p:nvSpPr>
        <p:spPr>
          <a:xfrm>
            <a:off x="6217920" y="1188720"/>
            <a:ext cx="5486400" cy="3794760"/>
          </a:xfrm>
          <a:prstGeom prst="roundRect">
            <a:avLst>
              <a:gd name="adj" fmla="val 6000"/>
            </a:avLst>
          </a:prstGeom>
          <a:solidFill>
            <a:srgbClr val="F8E9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6400800" y="1280160"/>
            <a:ext cx="5120640" cy="411480"/>
          </a:xfrm>
          <a:prstGeom prst="rect">
            <a:avLst/>
          </a:prstGeom>
          <a:noFill/>
        </p:spPr>
        <p:txBody>
          <a:bodyPr wrap="square" anchor="t" lIns="36576" rIns="36576" tIns="36576" bIns="36576"/>
          <a:lstStyle/>
          <a:p>
            <a:pPr algn="l">
              <a:spcAft>
                <a:spcPts val="400"/>
              </a:spcAft>
            </a:pPr>
            <a:r>
              <a:rPr sz="1800" b="1" i="0">
                <a:solidFill>
                  <a:srgbClr val="A3242F"/>
                </a:solidFill>
                <a:latin typeface="Arial"/>
              </a:rPr>
              <a:t>Limitations → proposed improvements</a:t>
            </a:r>
          </a:p>
        </p:txBody>
      </p:sp>
      <p:sp>
        <p:nvSpPr>
          <p:cNvPr id="9" name="TextBox 8"/>
          <p:cNvSpPr txBox="1"/>
          <p:nvPr/>
        </p:nvSpPr>
        <p:spPr>
          <a:xfrm>
            <a:off x="6400800" y="1737360"/>
            <a:ext cx="5166360" cy="3200400"/>
          </a:xfrm>
          <a:prstGeom prst="rect">
            <a:avLst/>
          </a:prstGeom>
          <a:noFill/>
        </p:spPr>
        <p:txBody>
          <a:bodyPr wrap="square" anchor="t" lIns="36576" rIns="36576" tIns="36576" bIns="36576"/>
          <a:lstStyle/>
          <a:p>
            <a:pPr algn="l" marL="201168" indent="-201168">
              <a:spcAft>
                <a:spcPts val="700"/>
              </a:spcAft>
              <a:buFont typeface="Arial"/>
              <a:buChar char="•"/>
            </a:pPr>
            <a:r>
              <a:rPr sz="1300" b="1" i="0">
                <a:solidFill>
                  <a:srgbClr val="262626"/>
                </a:solidFill>
                <a:latin typeface="Arial"/>
              </a:rPr>
              <a:t>No authentication → </a:t>
            </a:r>
            <a:r>
              <a:rPr sz="1300" b="0" i="0">
                <a:solidFill>
                  <a:srgbClr val="262626"/>
                </a:solidFill>
                <a:latin typeface="Arial"/>
              </a:rPr>
              <a:t>Cognito JWT authorizer and API throttling.</a:t>
            </a:r>
          </a:p>
          <a:p>
            <a:pPr algn="l" marL="201168" indent="-201168">
              <a:spcAft>
                <a:spcPts val="700"/>
              </a:spcAft>
              <a:buFont typeface="Arial"/>
              <a:buChar char="•"/>
            </a:pPr>
            <a:r>
              <a:rPr sz="1300" b="1" i="0">
                <a:solidFill>
                  <a:srgbClr val="262626"/>
                </a:solidFill>
                <a:latin typeface="Arial"/>
              </a:rPr>
              <a:t>Broad IAM role </a:t>
            </a:r>
            <a:r>
              <a:rPr sz="1300" b="0" i="0">
                <a:solidFill>
                  <a:srgbClr val="262626"/>
                </a:solidFill>
                <a:latin typeface="Arial"/>
              </a:rPr>
              <a:t>(PowerUserAccess seen in the console) → attach the scoped policies drafted in backend/iam/.</a:t>
            </a:r>
          </a:p>
          <a:p>
            <a:pPr algn="l" marL="201168" indent="-201168">
              <a:spcAft>
                <a:spcPts val="700"/>
              </a:spcAft>
              <a:buFont typeface="Arial"/>
              <a:buChar char="•"/>
            </a:pPr>
            <a:r>
              <a:rPr sz="1300" b="1" i="0">
                <a:solidFill>
                  <a:srgbClr val="262626"/>
                </a:solidFill>
                <a:latin typeface="Arial"/>
              </a:rPr>
              <a:t>Scan-based listing → </a:t>
            </a:r>
            <a:r>
              <a:rPr sz="1300" b="0" i="0">
                <a:solidFill>
                  <a:srgbClr val="262626"/>
                </a:solidFill>
                <a:latin typeface="Arial"/>
              </a:rPr>
              <a:t>Query with an index and paginated GET /documents.</a:t>
            </a:r>
          </a:p>
          <a:p>
            <a:pPr algn="l" marL="201168" indent="-201168">
              <a:spcAft>
                <a:spcPts val="700"/>
              </a:spcAft>
              <a:buFont typeface="Arial"/>
              <a:buChar char="•"/>
            </a:pPr>
            <a:r>
              <a:rPr sz="1300" b="1" i="0">
                <a:solidFill>
                  <a:srgbClr val="262626"/>
                </a:solidFill>
                <a:latin typeface="Arial"/>
              </a:rPr>
              <a:t>TXT ≤ 1 MB only → </a:t>
            </a:r>
            <a:r>
              <a:rPr sz="1300" b="0" i="0">
                <a:solidFill>
                  <a:srgbClr val="262626"/>
                </a:solidFill>
                <a:latin typeface="Arial"/>
              </a:rPr>
              <a:t>larger files and PDF text extraction.</a:t>
            </a:r>
          </a:p>
          <a:p>
            <a:pPr algn="l" marL="201168" indent="-201168">
              <a:spcAft>
                <a:spcPts val="700"/>
              </a:spcAft>
              <a:buFont typeface="Arial"/>
              <a:buChar char="•"/>
            </a:pPr>
            <a:r>
              <a:rPr sz="1300" b="1" i="0">
                <a:solidFill>
                  <a:srgbClr val="262626"/>
                </a:solidFill>
                <a:latin typeface="Arial"/>
              </a:rPr>
              <a:t>Local frontend, no alarms → </a:t>
            </a:r>
            <a:r>
              <a:rPr sz="1300" b="0" i="0">
                <a:solidFill>
                  <a:srgbClr val="262626"/>
                </a:solidFill>
                <a:latin typeface="Arial"/>
              </a:rPr>
              <a:t>hosted site, CloudWatch alarms, failed-event destination.</a:t>
            </a:r>
          </a:p>
        </p:txBody>
      </p:sp>
      <p:sp>
        <p:nvSpPr>
          <p:cNvPr id="10" name="Rounded Rectangle 9"/>
          <p:cNvSpPr/>
          <p:nvPr/>
        </p:nvSpPr>
        <p:spPr>
          <a:xfrm>
            <a:off x="502920" y="5120640"/>
            <a:ext cx="11201400" cy="685800"/>
          </a:xfrm>
          <a:prstGeom prst="roundRect">
            <a:avLst>
              <a:gd name="adj" fmla="val 6000"/>
            </a:avLst>
          </a:prstGeom>
          <a:solidFill>
            <a:srgbClr val="E6EE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85800" y="5120640"/>
            <a:ext cx="10881360" cy="685800"/>
          </a:xfrm>
          <a:prstGeom prst="rect">
            <a:avLst/>
          </a:prstGeom>
          <a:noFill/>
        </p:spPr>
        <p:txBody>
          <a:bodyPr wrap="square" anchor="ctr" lIns="36576" rIns="36576" tIns="36576" bIns="36576"/>
          <a:lstStyle/>
          <a:p>
            <a:pPr algn="l">
              <a:spcAft>
                <a:spcPts val="0"/>
              </a:spcAft>
            </a:pPr>
            <a:r>
              <a:rPr sz="1300" b="1" i="0">
                <a:solidFill>
                  <a:srgbClr val="1F4E79"/>
                </a:solidFill>
                <a:latin typeface="Arial"/>
              </a:rPr>
              <a:t>Reliability: </a:t>
            </a:r>
            <a:r>
              <a:rPr sz="1300" b="0" i="0">
                <a:solidFill>
                  <a:srgbClr val="262626"/>
                </a:solidFill>
                <a:latin typeface="Arial"/>
              </a:rPr>
              <a:t>S3 invokes DocumentProcessor asynchronously, so Lambda retries failed invocations; every document keeps a visible status, and both functions write logs to CloudWatch.</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2819400" y="182880"/>
            <a:ext cx="7343775" cy="713232"/>
          </a:xfrm>
        </p:spPr>
        <p:txBody>
          <a:bodyPr wrap="square" anchor="ctr" lIns="0" rIns="0" tIns="0" bIns="0">
            <a:normAutofit/>
          </a:bodyPr>
          <a:lstStyle/>
          <a:p>
            <a:pPr algn="ctr"/>
            <a:r>
              <a:rPr sz="2800"/>
              <a:t>Conclusion and Future Scope</a:t>
            </a:r>
          </a:p>
        </p:txBody>
      </p:sp>
      <p:sp>
        <p:nvSpPr>
          <p:cNvPr id="3" name="Slide Number"/>
          <p:cNvSpPr txBox="1"/>
          <p:nvPr/>
        </p:nvSpPr>
        <p:spPr>
          <a:xfrm>
            <a:off x="10850000" y="5996978"/>
            <a:ext cx="372000" cy="230000"/>
          </a:xfrm>
          <a:prstGeom prst="rect">
            <a:avLst/>
          </a:prstGeom>
          <a:noFill/>
        </p:spPr>
        <p:txBody>
          <a:bodyPr wrap="none" lIns="0" rIns="0" tIns="0" bIns="0">
            <a:spAutoFit/>
          </a:bodyPr>
          <a:lstStyle/>
          <a:p>
            <a:pPr algn="r"/>
            <a:fld id="{B6F15528-21DE-4FAA-801E-634DDDAF4B2B}" type="slidenum">
              <a:rPr lang="en-US" sz="1200">
                <a:solidFill>
                  <a:srgbClr val="3E3E3E"/>
                </a:solidFill>
                <a:latin typeface="Georgia"/>
              </a:rPr>
              <a:t>‹#›</a:t>
            </a:fld>
          </a:p>
        </p:txBody>
      </p:sp>
      <p:sp>
        <p:nvSpPr>
          <p:cNvPr id="4" name="TextBox 3"/>
          <p:cNvSpPr txBox="1"/>
          <p:nvPr/>
        </p:nvSpPr>
        <p:spPr>
          <a:xfrm>
            <a:off x="502920" y="1188720"/>
            <a:ext cx="5394960" cy="411480"/>
          </a:xfrm>
          <a:prstGeom prst="rect">
            <a:avLst/>
          </a:prstGeom>
          <a:noFill/>
        </p:spPr>
        <p:txBody>
          <a:bodyPr wrap="square" anchor="t" lIns="36576" rIns="36576" tIns="36576" bIns="36576"/>
          <a:lstStyle/>
          <a:p>
            <a:pPr algn="l">
              <a:spcAft>
                <a:spcPts val="400"/>
              </a:spcAft>
            </a:pPr>
            <a:r>
              <a:rPr sz="1800" b="1" i="0">
                <a:solidFill>
                  <a:srgbClr val="A3242F"/>
                </a:solidFill>
                <a:latin typeface="Arial"/>
              </a:rPr>
              <a:t>What was implemented</a:t>
            </a:r>
          </a:p>
        </p:txBody>
      </p:sp>
      <p:sp>
        <p:nvSpPr>
          <p:cNvPr id="5" name="Oval 4"/>
          <p:cNvSpPr/>
          <p:nvPr/>
        </p:nvSpPr>
        <p:spPr>
          <a:xfrm>
            <a:off x="502920" y="1764792"/>
            <a:ext cx="384048" cy="384048"/>
          </a:xfrm>
          <a:prstGeom prst="ellips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200"/>
              </a:spcAft>
            </a:pPr>
            <a:r>
              <a:rPr sz="1300" b="1" i="0">
                <a:solidFill>
                  <a:srgbClr val="FFFFFF"/>
                </a:solidFill>
                <a:latin typeface="Arial"/>
              </a:rPr>
              <a:t>✓</a:t>
            </a:r>
          </a:p>
        </p:txBody>
      </p:sp>
      <p:sp>
        <p:nvSpPr>
          <p:cNvPr id="6" name="TextBox 5"/>
          <p:cNvSpPr txBox="1"/>
          <p:nvPr/>
        </p:nvSpPr>
        <p:spPr>
          <a:xfrm>
            <a:off x="1005840" y="1691640"/>
            <a:ext cx="4892040" cy="566928"/>
          </a:xfrm>
          <a:prstGeom prst="rect">
            <a:avLst/>
          </a:prstGeom>
          <a:noFill/>
        </p:spPr>
        <p:txBody>
          <a:bodyPr wrap="square" anchor="ctr" lIns="36576" rIns="36576" tIns="36576" bIns="36576"/>
          <a:lstStyle/>
          <a:p>
            <a:pPr algn="l">
              <a:spcAft>
                <a:spcPts val="0"/>
              </a:spcAft>
            </a:pPr>
            <a:r>
              <a:rPr sz="1300" b="0" i="0">
                <a:solidFill>
                  <a:srgbClr val="262626"/>
                </a:solidFill>
                <a:latin typeface="Arial"/>
              </a:rPr>
              <a:t>Private S3 bucket with an ObjectCreated trigger (incoming/, .txt)</a:t>
            </a:r>
          </a:p>
        </p:txBody>
      </p:sp>
      <p:sp>
        <p:nvSpPr>
          <p:cNvPr id="7" name="Oval 6"/>
          <p:cNvSpPr/>
          <p:nvPr/>
        </p:nvSpPr>
        <p:spPr>
          <a:xfrm>
            <a:off x="502920" y="2423160"/>
            <a:ext cx="384048" cy="384048"/>
          </a:xfrm>
          <a:prstGeom prst="ellips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200"/>
              </a:spcAft>
            </a:pPr>
            <a:r>
              <a:rPr sz="1300" b="1" i="0">
                <a:solidFill>
                  <a:srgbClr val="FFFFFF"/>
                </a:solidFill>
                <a:latin typeface="Arial"/>
              </a:rPr>
              <a:t>✓</a:t>
            </a:r>
          </a:p>
        </p:txBody>
      </p:sp>
      <p:sp>
        <p:nvSpPr>
          <p:cNvPr id="8" name="TextBox 7"/>
          <p:cNvSpPr txBox="1"/>
          <p:nvPr/>
        </p:nvSpPr>
        <p:spPr>
          <a:xfrm>
            <a:off x="1005840" y="2350008"/>
            <a:ext cx="4892040" cy="566928"/>
          </a:xfrm>
          <a:prstGeom prst="rect">
            <a:avLst/>
          </a:prstGeom>
          <a:noFill/>
        </p:spPr>
        <p:txBody>
          <a:bodyPr wrap="square" anchor="ctr" lIns="36576" rIns="36576" tIns="36576" bIns="36576"/>
          <a:lstStyle/>
          <a:p>
            <a:pPr algn="l">
              <a:spcAft>
                <a:spcPts val="0"/>
              </a:spcAft>
            </a:pPr>
            <a:r>
              <a:rPr sz="1300" b="0" i="0">
                <a:solidFill>
                  <a:srgbClr val="262626"/>
                </a:solidFill>
                <a:latin typeface="Arial"/>
              </a:rPr>
              <a:t>DocumentProcessor Lambda computing four analytics</a:t>
            </a:r>
          </a:p>
        </p:txBody>
      </p:sp>
      <p:sp>
        <p:nvSpPr>
          <p:cNvPr id="9" name="Oval 8"/>
          <p:cNvSpPr/>
          <p:nvPr/>
        </p:nvSpPr>
        <p:spPr>
          <a:xfrm>
            <a:off x="502920" y="3081528"/>
            <a:ext cx="384048" cy="384048"/>
          </a:xfrm>
          <a:prstGeom prst="ellips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200"/>
              </a:spcAft>
            </a:pPr>
            <a:r>
              <a:rPr sz="1300" b="1" i="0">
                <a:solidFill>
                  <a:srgbClr val="FFFFFF"/>
                </a:solidFill>
                <a:latin typeface="Arial"/>
              </a:rPr>
              <a:t>✓</a:t>
            </a:r>
          </a:p>
        </p:txBody>
      </p:sp>
      <p:sp>
        <p:nvSpPr>
          <p:cNvPr id="10" name="TextBox 9"/>
          <p:cNvSpPr txBox="1"/>
          <p:nvPr/>
        </p:nvSpPr>
        <p:spPr>
          <a:xfrm>
            <a:off x="1005840" y="3008376"/>
            <a:ext cx="4892040" cy="566928"/>
          </a:xfrm>
          <a:prstGeom prst="rect">
            <a:avLst/>
          </a:prstGeom>
          <a:noFill/>
        </p:spPr>
        <p:txBody>
          <a:bodyPr wrap="square" anchor="ctr" lIns="36576" rIns="36576" tIns="36576" bIns="36576"/>
          <a:lstStyle/>
          <a:p>
            <a:pPr algn="l">
              <a:spcAft>
                <a:spcPts val="0"/>
              </a:spcAft>
            </a:pPr>
            <a:r>
              <a:rPr sz="1300" b="0" i="0">
                <a:solidFill>
                  <a:srgbClr val="262626"/>
                </a:solidFill>
                <a:latin typeface="Arial"/>
              </a:rPr>
              <a:t>DocumentAnalyticsV3 table holding status and results</a:t>
            </a:r>
          </a:p>
        </p:txBody>
      </p:sp>
      <p:sp>
        <p:nvSpPr>
          <p:cNvPr id="11" name="Oval 10"/>
          <p:cNvSpPr/>
          <p:nvPr/>
        </p:nvSpPr>
        <p:spPr>
          <a:xfrm>
            <a:off x="502920" y="3739896"/>
            <a:ext cx="384048" cy="384048"/>
          </a:xfrm>
          <a:prstGeom prst="ellips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200"/>
              </a:spcAft>
            </a:pPr>
            <a:r>
              <a:rPr sz="1300" b="1" i="0">
                <a:solidFill>
                  <a:srgbClr val="FFFFFF"/>
                </a:solidFill>
                <a:latin typeface="Arial"/>
              </a:rPr>
              <a:t>✓</a:t>
            </a:r>
          </a:p>
        </p:txBody>
      </p:sp>
      <p:sp>
        <p:nvSpPr>
          <p:cNvPr id="12" name="TextBox 11"/>
          <p:cNvSpPr txBox="1"/>
          <p:nvPr/>
        </p:nvSpPr>
        <p:spPr>
          <a:xfrm>
            <a:off x="1005840" y="3666744"/>
            <a:ext cx="4892040" cy="566928"/>
          </a:xfrm>
          <a:prstGeom prst="rect">
            <a:avLst/>
          </a:prstGeom>
          <a:noFill/>
        </p:spPr>
        <p:txBody>
          <a:bodyPr wrap="square" anchor="ctr" lIns="36576" rIns="36576" tIns="36576" bIns="36576"/>
          <a:lstStyle/>
          <a:p>
            <a:pPr algn="l">
              <a:spcAft>
                <a:spcPts val="0"/>
              </a:spcAft>
            </a:pPr>
            <a:r>
              <a:rPr sz="1300" b="0" i="0">
                <a:solidFill>
                  <a:srgbClr val="262626"/>
                </a:solidFill>
                <a:latin typeface="Arial"/>
              </a:rPr>
              <a:t>DocumentApi behind an HTTP API with three routes and CORS</a:t>
            </a:r>
          </a:p>
        </p:txBody>
      </p:sp>
      <p:sp>
        <p:nvSpPr>
          <p:cNvPr id="13" name="Oval 12"/>
          <p:cNvSpPr/>
          <p:nvPr/>
        </p:nvSpPr>
        <p:spPr>
          <a:xfrm>
            <a:off x="502920" y="4398264"/>
            <a:ext cx="384048" cy="384048"/>
          </a:xfrm>
          <a:prstGeom prst="ellips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200"/>
              </a:spcAft>
            </a:pPr>
            <a:r>
              <a:rPr sz="1300" b="1" i="0">
                <a:solidFill>
                  <a:srgbClr val="FFFFFF"/>
                </a:solidFill>
                <a:latin typeface="Arial"/>
              </a:rPr>
              <a:t>✓</a:t>
            </a:r>
          </a:p>
        </p:txBody>
      </p:sp>
      <p:sp>
        <p:nvSpPr>
          <p:cNvPr id="14" name="TextBox 13"/>
          <p:cNvSpPr txBox="1"/>
          <p:nvPr/>
        </p:nvSpPr>
        <p:spPr>
          <a:xfrm>
            <a:off x="1005840" y="4325112"/>
            <a:ext cx="4892040" cy="566928"/>
          </a:xfrm>
          <a:prstGeom prst="rect">
            <a:avLst/>
          </a:prstGeom>
          <a:noFill/>
        </p:spPr>
        <p:txBody>
          <a:bodyPr wrap="square" anchor="ctr" lIns="36576" rIns="36576" tIns="36576" bIns="36576"/>
          <a:lstStyle/>
          <a:p>
            <a:pPr algn="l">
              <a:spcAft>
                <a:spcPts val="0"/>
              </a:spcAft>
            </a:pPr>
            <a:r>
              <a:rPr sz="1300" b="0" i="0">
                <a:solidFill>
                  <a:srgbClr val="262626"/>
                </a:solidFill>
                <a:latin typeface="Arial"/>
              </a:rPr>
              <a:t>HTML/CSS/JS dashboard: upload, list, details, polling</a:t>
            </a:r>
          </a:p>
        </p:txBody>
      </p:sp>
      <p:sp>
        <p:nvSpPr>
          <p:cNvPr id="15" name="Oval 14"/>
          <p:cNvSpPr/>
          <p:nvPr/>
        </p:nvSpPr>
        <p:spPr>
          <a:xfrm>
            <a:off x="502920" y="5056631"/>
            <a:ext cx="384048" cy="384048"/>
          </a:xfrm>
          <a:prstGeom prst="ellips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200"/>
              </a:spcAft>
            </a:pPr>
            <a:r>
              <a:rPr sz="1300" b="1" i="0">
                <a:solidFill>
                  <a:srgbClr val="FFFFFF"/>
                </a:solidFill>
                <a:latin typeface="Arial"/>
              </a:rPr>
              <a:t>✓</a:t>
            </a:r>
          </a:p>
        </p:txBody>
      </p:sp>
      <p:sp>
        <p:nvSpPr>
          <p:cNvPr id="16" name="TextBox 15"/>
          <p:cNvSpPr txBox="1"/>
          <p:nvPr/>
        </p:nvSpPr>
        <p:spPr>
          <a:xfrm>
            <a:off x="1005840" y="4983479"/>
            <a:ext cx="4892040" cy="566928"/>
          </a:xfrm>
          <a:prstGeom prst="rect">
            <a:avLst/>
          </a:prstGeom>
          <a:noFill/>
        </p:spPr>
        <p:txBody>
          <a:bodyPr wrap="square" anchor="ctr" lIns="36576" rIns="36576" tIns="36576" bIns="36576"/>
          <a:lstStyle/>
          <a:p>
            <a:pPr algn="l">
              <a:spcAft>
                <a:spcPts val="0"/>
              </a:spcAft>
            </a:pPr>
            <a:r>
              <a:rPr sz="1300" b="0" i="0">
                <a:solidFill>
                  <a:srgbClr val="262626"/>
                </a:solidFill>
                <a:latin typeface="Arial"/>
              </a:rPr>
              <a:t>Verified runs: direct test, S3-triggered upload, API list, end-to-end upload</a:t>
            </a:r>
          </a:p>
        </p:txBody>
      </p:sp>
      <p:sp>
        <p:nvSpPr>
          <p:cNvPr id="17" name="TextBox 16"/>
          <p:cNvSpPr txBox="1"/>
          <p:nvPr/>
        </p:nvSpPr>
        <p:spPr>
          <a:xfrm>
            <a:off x="6263640" y="1188720"/>
            <a:ext cx="5440680" cy="411480"/>
          </a:xfrm>
          <a:prstGeom prst="rect">
            <a:avLst/>
          </a:prstGeom>
          <a:noFill/>
        </p:spPr>
        <p:txBody>
          <a:bodyPr wrap="square" anchor="t" lIns="36576" rIns="36576" tIns="36576" bIns="36576"/>
          <a:lstStyle/>
          <a:p>
            <a:pPr algn="l">
              <a:spcAft>
                <a:spcPts val="400"/>
              </a:spcAft>
            </a:pPr>
            <a:r>
              <a:rPr sz="1800" b="1" i="0">
                <a:solidFill>
                  <a:srgbClr val="A3242F"/>
                </a:solidFill>
                <a:latin typeface="Arial"/>
              </a:rPr>
              <a:t>Future scope</a:t>
            </a:r>
          </a:p>
        </p:txBody>
      </p:sp>
      <p:sp>
        <p:nvSpPr>
          <p:cNvPr id="18" name="Rounded Rectangle 17"/>
          <p:cNvSpPr/>
          <p:nvPr/>
        </p:nvSpPr>
        <p:spPr>
          <a:xfrm>
            <a:off x="6263640" y="1691640"/>
            <a:ext cx="2651760" cy="1188720"/>
          </a:xfrm>
          <a:prstGeom prst="roundRect">
            <a:avLst>
              <a:gd name="adj" fmla="val 6000"/>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6400800" y="1764792"/>
            <a:ext cx="2377440" cy="1051560"/>
          </a:xfrm>
          <a:prstGeom prst="rect">
            <a:avLst/>
          </a:prstGeom>
          <a:noFill/>
        </p:spPr>
        <p:txBody>
          <a:bodyPr wrap="square" anchor="ctr" lIns="36576" rIns="36576" tIns="36576" bIns="36576"/>
          <a:lstStyle/>
          <a:p>
            <a:pPr algn="l">
              <a:spcAft>
                <a:spcPts val="200"/>
              </a:spcAft>
            </a:pPr>
            <a:r>
              <a:rPr sz="1500" b="1" i="0">
                <a:solidFill>
                  <a:srgbClr val="A3242F"/>
                </a:solidFill>
                <a:latin typeface="Arial"/>
              </a:rPr>
              <a:t>PDF extraction</a:t>
            </a:r>
          </a:p>
          <a:p>
            <a:pPr algn="l">
              <a:spcAft>
                <a:spcPts val="200"/>
              </a:spcAft>
            </a:pPr>
            <a:r>
              <a:rPr sz="1300" b="0" i="0">
                <a:solidFill>
                  <a:srgbClr val="262626"/>
                </a:solidFill>
                <a:latin typeface="Arial"/>
              </a:rPr>
              <a:t>Extract text from PDFs before analysis.</a:t>
            </a:r>
          </a:p>
        </p:txBody>
      </p:sp>
      <p:sp>
        <p:nvSpPr>
          <p:cNvPr id="20" name="Rounded Rectangle 19"/>
          <p:cNvSpPr/>
          <p:nvPr/>
        </p:nvSpPr>
        <p:spPr>
          <a:xfrm>
            <a:off x="9052559" y="1691640"/>
            <a:ext cx="2651760" cy="1188720"/>
          </a:xfrm>
          <a:prstGeom prst="roundRect">
            <a:avLst>
              <a:gd name="adj" fmla="val 6000"/>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9189719" y="1764792"/>
            <a:ext cx="2377440" cy="1051560"/>
          </a:xfrm>
          <a:prstGeom prst="rect">
            <a:avLst/>
          </a:prstGeom>
          <a:noFill/>
        </p:spPr>
        <p:txBody>
          <a:bodyPr wrap="square" anchor="ctr" lIns="36576" rIns="36576" tIns="36576" bIns="36576"/>
          <a:lstStyle/>
          <a:p>
            <a:pPr algn="l">
              <a:spcAft>
                <a:spcPts val="200"/>
              </a:spcAft>
            </a:pPr>
            <a:r>
              <a:rPr sz="1500" b="1" i="0">
                <a:solidFill>
                  <a:srgbClr val="A3242F"/>
                </a:solidFill>
                <a:latin typeface="Arial"/>
              </a:rPr>
              <a:t>Authentication</a:t>
            </a:r>
          </a:p>
          <a:p>
            <a:pPr algn="l">
              <a:spcAft>
                <a:spcPts val="200"/>
              </a:spcAft>
            </a:pPr>
            <a:r>
              <a:rPr sz="1300" b="0" i="0">
                <a:solidFill>
                  <a:srgbClr val="262626"/>
                </a:solidFill>
                <a:latin typeface="Arial"/>
              </a:rPr>
              <a:t>User sign-in and per-user documents.</a:t>
            </a:r>
          </a:p>
        </p:txBody>
      </p:sp>
      <p:sp>
        <p:nvSpPr>
          <p:cNvPr id="22" name="Rounded Rectangle 21"/>
          <p:cNvSpPr/>
          <p:nvPr/>
        </p:nvSpPr>
        <p:spPr>
          <a:xfrm>
            <a:off x="6263640" y="3017520"/>
            <a:ext cx="2651760" cy="1188720"/>
          </a:xfrm>
          <a:prstGeom prst="roundRect">
            <a:avLst>
              <a:gd name="adj" fmla="val 6000"/>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6400800" y="3090672"/>
            <a:ext cx="2377440" cy="1051560"/>
          </a:xfrm>
          <a:prstGeom prst="rect">
            <a:avLst/>
          </a:prstGeom>
          <a:noFill/>
        </p:spPr>
        <p:txBody>
          <a:bodyPr wrap="square" anchor="ctr" lIns="36576" rIns="36576" tIns="36576" bIns="36576"/>
          <a:lstStyle/>
          <a:p>
            <a:pPr algn="l">
              <a:spcAft>
                <a:spcPts val="200"/>
              </a:spcAft>
            </a:pPr>
            <a:r>
              <a:rPr sz="1500" b="1" i="0">
                <a:solidFill>
                  <a:srgbClr val="A3242F"/>
                </a:solidFill>
                <a:latin typeface="Arial"/>
              </a:rPr>
              <a:t>Error reporting</a:t>
            </a:r>
          </a:p>
          <a:p>
            <a:pPr algn="l">
              <a:spcAft>
                <a:spcPts val="200"/>
              </a:spcAft>
            </a:pPr>
            <a:r>
              <a:rPr sz="1300" b="0" i="0">
                <a:solidFill>
                  <a:srgbClr val="262626"/>
                </a:solidFill>
                <a:latin typeface="Arial"/>
              </a:rPr>
              <a:t>Show FAILED reasons and retry in the UI.</a:t>
            </a:r>
          </a:p>
        </p:txBody>
      </p:sp>
      <p:sp>
        <p:nvSpPr>
          <p:cNvPr id="24" name="Rounded Rectangle 23"/>
          <p:cNvSpPr/>
          <p:nvPr/>
        </p:nvSpPr>
        <p:spPr>
          <a:xfrm>
            <a:off x="9052559" y="3017520"/>
            <a:ext cx="2651760" cy="1188720"/>
          </a:xfrm>
          <a:prstGeom prst="roundRect">
            <a:avLst>
              <a:gd name="adj" fmla="val 6000"/>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9189719" y="3090672"/>
            <a:ext cx="2377440" cy="1051560"/>
          </a:xfrm>
          <a:prstGeom prst="rect">
            <a:avLst/>
          </a:prstGeom>
          <a:noFill/>
        </p:spPr>
        <p:txBody>
          <a:bodyPr wrap="square" anchor="ctr" lIns="36576" rIns="36576" tIns="36576" bIns="36576"/>
          <a:lstStyle/>
          <a:p>
            <a:pPr algn="l">
              <a:spcAft>
                <a:spcPts val="200"/>
              </a:spcAft>
            </a:pPr>
            <a:r>
              <a:rPr sz="1500" b="1" i="0">
                <a:solidFill>
                  <a:srgbClr val="A3242F"/>
                </a:solidFill>
                <a:latin typeface="Arial"/>
              </a:rPr>
              <a:t>Larger documents</a:t>
            </a:r>
          </a:p>
          <a:p>
            <a:pPr algn="l">
              <a:spcAft>
                <a:spcPts val="200"/>
              </a:spcAft>
            </a:pPr>
            <a:r>
              <a:rPr sz="1300" b="0" i="0">
                <a:solidFill>
                  <a:srgbClr val="262626"/>
                </a:solidFill>
                <a:latin typeface="Arial"/>
              </a:rPr>
              <a:t>Raise the 1 MB limit; stream large files.</a:t>
            </a:r>
          </a:p>
        </p:txBody>
      </p:sp>
      <p:sp>
        <p:nvSpPr>
          <p:cNvPr id="26" name="Rounded Rectangle 25"/>
          <p:cNvSpPr/>
          <p:nvPr/>
        </p:nvSpPr>
        <p:spPr>
          <a:xfrm>
            <a:off x="6263640" y="4343400"/>
            <a:ext cx="2651760" cy="1188720"/>
          </a:xfrm>
          <a:prstGeom prst="roundRect">
            <a:avLst>
              <a:gd name="adj" fmla="val 6000"/>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6400800" y="4416552"/>
            <a:ext cx="2377440" cy="1051560"/>
          </a:xfrm>
          <a:prstGeom prst="rect">
            <a:avLst/>
          </a:prstGeom>
          <a:noFill/>
        </p:spPr>
        <p:txBody>
          <a:bodyPr wrap="square" anchor="ctr" lIns="36576" rIns="36576" tIns="36576" bIns="36576"/>
          <a:lstStyle/>
          <a:p>
            <a:pPr algn="l">
              <a:spcAft>
                <a:spcPts val="200"/>
              </a:spcAft>
            </a:pPr>
            <a:r>
              <a:rPr sz="1500" b="1" i="0">
                <a:solidFill>
                  <a:srgbClr val="A3242F"/>
                </a:solidFill>
                <a:latin typeface="Arial"/>
              </a:rPr>
              <a:t>Richer analytics</a:t>
            </a:r>
          </a:p>
          <a:p>
            <a:pPr algn="l">
              <a:spcAft>
                <a:spcPts val="200"/>
              </a:spcAft>
            </a:pPr>
            <a:r>
              <a:rPr sz="1300" b="0" i="0">
                <a:solidFill>
                  <a:srgbClr val="262626"/>
                </a:solidFill>
                <a:latin typeface="Arial"/>
              </a:rPr>
              <a:t>Sentence counts and reading time.</a:t>
            </a:r>
          </a:p>
        </p:txBody>
      </p:sp>
      <p:sp>
        <p:nvSpPr>
          <p:cNvPr id="28" name="Rounded Rectangle 27"/>
          <p:cNvSpPr/>
          <p:nvPr/>
        </p:nvSpPr>
        <p:spPr>
          <a:xfrm>
            <a:off x="9052559" y="4343400"/>
            <a:ext cx="2651760" cy="1188720"/>
          </a:xfrm>
          <a:prstGeom prst="roundRect">
            <a:avLst>
              <a:gd name="adj" fmla="val 6000"/>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9189719" y="4416552"/>
            <a:ext cx="2377440" cy="1051560"/>
          </a:xfrm>
          <a:prstGeom prst="rect">
            <a:avLst/>
          </a:prstGeom>
          <a:noFill/>
        </p:spPr>
        <p:txBody>
          <a:bodyPr wrap="square" anchor="ctr" lIns="36576" rIns="36576" tIns="36576" bIns="36576"/>
          <a:lstStyle/>
          <a:p>
            <a:pPr algn="l">
              <a:spcAft>
                <a:spcPts val="200"/>
              </a:spcAft>
            </a:pPr>
            <a:r>
              <a:rPr sz="1500" b="1" i="0">
                <a:solidFill>
                  <a:srgbClr val="A3242F"/>
                </a:solidFill>
                <a:latin typeface="Arial"/>
              </a:rPr>
              <a:t>Monitoring</a:t>
            </a:r>
          </a:p>
          <a:p>
            <a:pPr algn="l">
              <a:spcAft>
                <a:spcPts val="200"/>
              </a:spcAft>
            </a:pPr>
            <a:r>
              <a:rPr sz="1300" b="0" i="0">
                <a:solidFill>
                  <a:srgbClr val="262626"/>
                </a:solidFill>
                <a:latin typeface="Arial"/>
              </a:rPr>
              <a:t>Alarms, dashboards and tracing.</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2819400" y="182880"/>
            <a:ext cx="7343775" cy="713232"/>
          </a:xfrm>
        </p:spPr>
        <p:txBody>
          <a:bodyPr wrap="square" anchor="ctr" lIns="0" rIns="0" tIns="0" bIns="0">
            <a:normAutofit/>
          </a:bodyPr>
          <a:lstStyle/>
          <a:p>
            <a:pPr algn="ctr"/>
            <a:r>
              <a:rPr sz="2800"/>
              <a:t>References</a:t>
            </a:r>
          </a:p>
        </p:txBody>
      </p:sp>
      <p:sp>
        <p:nvSpPr>
          <p:cNvPr id="3" name="Slide Number"/>
          <p:cNvSpPr txBox="1"/>
          <p:nvPr/>
        </p:nvSpPr>
        <p:spPr>
          <a:xfrm>
            <a:off x="10850000" y="5996978"/>
            <a:ext cx="372000" cy="230000"/>
          </a:xfrm>
          <a:prstGeom prst="rect">
            <a:avLst/>
          </a:prstGeom>
          <a:noFill/>
        </p:spPr>
        <p:txBody>
          <a:bodyPr wrap="none" lIns="0" rIns="0" tIns="0" bIns="0">
            <a:spAutoFit/>
          </a:bodyPr>
          <a:lstStyle/>
          <a:p>
            <a:pPr algn="r"/>
            <a:fld id="{B6F15528-21DE-4FAA-801E-634DDDAF4B2B}" type="slidenum">
              <a:rPr lang="en-US" sz="1200">
                <a:solidFill>
                  <a:srgbClr val="3E3E3E"/>
                </a:solidFill>
                <a:latin typeface="Georgia"/>
              </a:rPr>
              <a:t>‹#›</a:t>
            </a:fld>
          </a:p>
        </p:txBody>
      </p:sp>
      <p:sp>
        <p:nvSpPr>
          <p:cNvPr id="4" name="TextBox 3"/>
          <p:cNvSpPr txBox="1"/>
          <p:nvPr/>
        </p:nvSpPr>
        <p:spPr>
          <a:xfrm>
            <a:off x="502920" y="1143000"/>
            <a:ext cx="11247120" cy="4663440"/>
          </a:xfrm>
          <a:prstGeom prst="rect">
            <a:avLst/>
          </a:prstGeom>
          <a:noFill/>
        </p:spPr>
        <p:txBody>
          <a:bodyPr wrap="square" anchor="t" lIns="36576" rIns="36576" tIns="36576" bIns="36576"/>
          <a:lstStyle/>
          <a:p>
            <a:pPr algn="l">
              <a:spcAft>
                <a:spcPts val="900"/>
              </a:spcAft>
            </a:pPr>
            <a:r>
              <a:rPr sz="1200" b="1" i="0">
                <a:solidFill>
                  <a:srgbClr val="A3242F"/>
                </a:solidFill>
                <a:latin typeface="Arial"/>
              </a:rPr>
              <a:t>[1]  </a:t>
            </a:r>
            <a:r>
              <a:rPr sz="1200" b="0" i="0">
                <a:solidFill>
                  <a:srgbClr val="262626"/>
                </a:solidFill>
                <a:latin typeface="Arial"/>
              </a:rPr>
              <a:t>AWS, “What is AWS Lambda?” https://docs.aws.amazon.com/lambda/latest/dg/welcome.html</a:t>
            </a:r>
          </a:p>
          <a:p>
            <a:pPr algn="l">
              <a:spcAft>
                <a:spcPts val="900"/>
              </a:spcAft>
            </a:pPr>
            <a:r>
              <a:rPr sz="1200" b="1" i="0">
                <a:solidFill>
                  <a:srgbClr val="A3242F"/>
                </a:solidFill>
                <a:latin typeface="Arial"/>
              </a:rPr>
              <a:t>[2]  </a:t>
            </a:r>
            <a:r>
              <a:rPr sz="1200" b="0" i="0">
                <a:solidFill>
                  <a:srgbClr val="262626"/>
                </a:solidFill>
                <a:latin typeface="Arial"/>
              </a:rPr>
              <a:t>AWS, “Tutorial: Using an Amazon S3 trigger to invoke a Lambda function,” https://docs.aws.amazon.com/lambda/latest/dg/with-s3-example.html</a:t>
            </a:r>
          </a:p>
          <a:p>
            <a:pPr algn="l">
              <a:spcAft>
                <a:spcPts val="900"/>
              </a:spcAft>
            </a:pPr>
            <a:r>
              <a:rPr sz="1200" b="1" i="0">
                <a:solidFill>
                  <a:srgbClr val="A3242F"/>
                </a:solidFill>
                <a:latin typeface="Arial"/>
              </a:rPr>
              <a:t>[3]  </a:t>
            </a:r>
            <a:r>
              <a:rPr sz="1200" b="0" i="0">
                <a:solidFill>
                  <a:srgbClr val="262626"/>
                </a:solidFill>
                <a:latin typeface="Arial"/>
              </a:rPr>
              <a:t>AWS, “Amazon S3 Event Notifications,” https://docs.aws.amazon.com/AmazonS3/latest/userguide/EventNotifications.html</a:t>
            </a:r>
          </a:p>
          <a:p>
            <a:pPr algn="l">
              <a:spcAft>
                <a:spcPts val="900"/>
              </a:spcAft>
            </a:pPr>
            <a:r>
              <a:rPr sz="1200" b="1" i="0">
                <a:solidFill>
                  <a:srgbClr val="A3242F"/>
                </a:solidFill>
                <a:latin typeface="Arial"/>
              </a:rPr>
              <a:t>[4]  </a:t>
            </a:r>
            <a:r>
              <a:rPr sz="1200" b="0" i="0">
                <a:solidFill>
                  <a:srgbClr val="262626"/>
                </a:solidFill>
                <a:latin typeface="Arial"/>
              </a:rPr>
              <a:t>AWS, “Uploading objects with presigned URLs,” https://docs.aws.amazon.com/AmazonS3/latest/userguide/PresignedUrlUploadObject.html</a:t>
            </a:r>
          </a:p>
          <a:p>
            <a:pPr algn="l">
              <a:spcAft>
                <a:spcPts val="900"/>
              </a:spcAft>
            </a:pPr>
            <a:r>
              <a:rPr sz="1200" b="1" i="0">
                <a:solidFill>
                  <a:srgbClr val="A3242F"/>
                </a:solidFill>
                <a:latin typeface="Arial"/>
              </a:rPr>
              <a:t>[5]  </a:t>
            </a:r>
            <a:r>
              <a:rPr sz="1200" b="0" i="0">
                <a:solidFill>
                  <a:srgbClr val="262626"/>
                </a:solidFill>
                <a:latin typeface="Arial"/>
              </a:rPr>
              <a:t>AWS, “Blocking public access to your Amazon S3 storage,” https://docs.aws.amazon.com/AmazonS3/latest/userguide/access-control-block-public-access.html</a:t>
            </a:r>
          </a:p>
          <a:p>
            <a:pPr algn="l">
              <a:spcAft>
                <a:spcPts val="900"/>
              </a:spcAft>
            </a:pPr>
            <a:r>
              <a:rPr sz="1200" b="1" i="0">
                <a:solidFill>
                  <a:srgbClr val="A3242F"/>
                </a:solidFill>
                <a:latin typeface="Arial"/>
              </a:rPr>
              <a:t>[6]  </a:t>
            </a:r>
            <a:r>
              <a:rPr sz="1200" b="0" i="0">
                <a:solidFill>
                  <a:srgbClr val="262626"/>
                </a:solidFill>
                <a:latin typeface="Arial"/>
              </a:rPr>
              <a:t>AWS, “API Gateway HTTP APIs,” https://docs.aws.amazon.com/apigateway/latest/developerguide/http-api.html</a:t>
            </a:r>
          </a:p>
          <a:p>
            <a:pPr algn="l">
              <a:spcAft>
                <a:spcPts val="900"/>
              </a:spcAft>
            </a:pPr>
            <a:r>
              <a:rPr sz="1200" b="1" i="0">
                <a:solidFill>
                  <a:srgbClr val="A3242F"/>
                </a:solidFill>
                <a:latin typeface="Arial"/>
              </a:rPr>
              <a:t>[7]  </a:t>
            </a:r>
            <a:r>
              <a:rPr sz="1200" b="0" i="0">
                <a:solidFill>
                  <a:srgbClr val="262626"/>
                </a:solidFill>
                <a:latin typeface="Arial"/>
              </a:rPr>
              <a:t>AWS, “Configure CORS for HTTP APIs in API Gateway,” https://docs.aws.amazon.com/apigateway/latest/developerguide/http-api-cors.html</a:t>
            </a:r>
          </a:p>
          <a:p>
            <a:pPr algn="l">
              <a:spcAft>
                <a:spcPts val="900"/>
              </a:spcAft>
            </a:pPr>
            <a:r>
              <a:rPr sz="1200" b="1" i="0">
                <a:solidFill>
                  <a:srgbClr val="A3242F"/>
                </a:solidFill>
                <a:latin typeface="Arial"/>
              </a:rPr>
              <a:t>[8]  </a:t>
            </a:r>
            <a:r>
              <a:rPr sz="1200" b="0" i="0">
                <a:solidFill>
                  <a:srgbClr val="262626"/>
                </a:solidFill>
                <a:latin typeface="Arial"/>
              </a:rPr>
              <a:t>AWS, “What is Amazon DynamoDB?” https://docs.aws.amazon.com/amazondynamodb/latest/developerguide/Introduction.html</a:t>
            </a:r>
          </a:p>
          <a:p>
            <a:pPr algn="l">
              <a:spcAft>
                <a:spcPts val="900"/>
              </a:spcAft>
            </a:pPr>
            <a:r>
              <a:rPr sz="1200" b="1" i="0">
                <a:solidFill>
                  <a:srgbClr val="A3242F"/>
                </a:solidFill>
                <a:latin typeface="Arial"/>
              </a:rPr>
              <a:t>[9]  </a:t>
            </a:r>
            <a:r>
              <a:rPr sz="1200" b="0" i="0">
                <a:solidFill>
                  <a:srgbClr val="262626"/>
                </a:solidFill>
                <a:latin typeface="Arial"/>
              </a:rPr>
              <a:t>AWS, “Defining Lambda function permissions with an execution role,” https://docs.aws.amazon.com/lambda/latest/dg/lambda-intro-execution-role.html</a:t>
            </a:r>
          </a:p>
          <a:p>
            <a:pPr algn="l">
              <a:spcAft>
                <a:spcPts val="900"/>
              </a:spcAft>
            </a:pPr>
            <a:r>
              <a:rPr sz="1200" b="1" i="0">
                <a:solidFill>
                  <a:srgbClr val="A3242F"/>
                </a:solidFill>
                <a:latin typeface="Arial"/>
              </a:rPr>
              <a:t>[10]  </a:t>
            </a:r>
            <a:r>
              <a:rPr sz="1200" b="0" i="0">
                <a:solidFill>
                  <a:srgbClr val="262626"/>
                </a:solidFill>
                <a:latin typeface="Arial"/>
              </a:rPr>
              <a:t>AWS, “Security best practices in IAM,” https://docs.aws.amazon.com/IAM/latest/UserGuide/best-practices.html</a:t>
            </a:r>
          </a:p>
          <a:p>
            <a:pPr algn="l">
              <a:spcAft>
                <a:spcPts val="900"/>
              </a:spcAft>
            </a:pPr>
            <a:r>
              <a:rPr sz="1200" b="1" i="0">
                <a:solidFill>
                  <a:srgbClr val="A3242F"/>
                </a:solidFill>
                <a:latin typeface="Arial"/>
              </a:rPr>
              <a:t>[11]  </a:t>
            </a:r>
            <a:r>
              <a:rPr sz="1200" b="0" i="0">
                <a:solidFill>
                  <a:srgbClr val="262626"/>
                </a:solidFill>
                <a:latin typeface="Arial"/>
              </a:rPr>
              <a:t>AWS, “Sending Lambda function logs to CloudWatch Logs,” https://docs.aws.amazon.com/lambda/latest/dg/monitoring-cloudwatchlogs.html</a:t>
            </a:r>
          </a:p>
          <a:p>
            <a:pPr algn="l">
              <a:spcAft>
                <a:spcPts val="900"/>
              </a:spcAft>
            </a:pPr>
            <a:r>
              <a:rPr sz="1200" b="1" i="0">
                <a:solidFill>
                  <a:srgbClr val="A3242F"/>
                </a:solidFill>
                <a:latin typeface="Arial"/>
              </a:rPr>
              <a:t>[12]  </a:t>
            </a:r>
            <a:r>
              <a:rPr sz="1200" b="0" i="0">
                <a:solidFill>
                  <a:srgbClr val="262626"/>
                </a:solidFill>
                <a:latin typeface="Arial"/>
              </a:rPr>
              <a:t>AWS, “Boto3 documentation,” https://boto3.amazonaws.com/v1/documentation/api/latest/index.html</a:t>
            </a:r>
          </a:p>
          <a:p>
            <a:pPr algn="l">
              <a:spcAft>
                <a:spcPts val="900"/>
              </a:spcAft>
            </a:pPr>
            <a:r>
              <a:rPr sz="1200" b="1" i="0">
                <a:solidFill>
                  <a:srgbClr val="A3242F"/>
                </a:solidFill>
                <a:latin typeface="Arial"/>
              </a:rPr>
              <a:t>[13]  </a:t>
            </a:r>
            <a:r>
              <a:rPr sz="1200" b="0" i="0">
                <a:solidFill>
                  <a:srgbClr val="262626"/>
                </a:solidFill>
                <a:latin typeface="Arial"/>
              </a:rPr>
              <a:t>Python Software Foundation, “re — Regular expression operations,” https://docs.python.org/3/library/re.html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393939"/>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1897</TotalTime>
  <Words>139</Words>
  <Application>Microsoft Office PowerPoint</Application>
  <PresentationFormat>Widescreen</PresentationFormat>
  <Paragraphs>8</Paragraphs>
  <Slides>2</Slides>
  <Notes>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vt:i4>
      </vt:variant>
    </vt:vector>
  </HeadingPairs>
  <TitlesOfParts>
    <vt:vector size="7" baseType="lpstr">
      <vt:lpstr>Arial MT</vt:lpstr>
      <vt:lpstr>Calibri</vt:lpstr>
      <vt:lpstr>Georgia</vt:lpstr>
      <vt:lpstr>Times New Roman</vt:lpstr>
      <vt:lpstr>Office Theme</vt:lpstr>
      <vt:lpstr>Serverless Document Processing and Analytics Platform on AWS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description/>
  <cp:lastModifiedBy>Ram Thokane</cp:lastModifiedBy>
  <cp:revision>12</cp:revision>
  <dcterms:created xsi:type="dcterms:W3CDTF">2026-08-28T17:53:10Z</dcterms:created>
  <dcterms:modified xsi:type="dcterms:W3CDTF">2026-10-13T20:56:59Z</dcterms:modified>
  <dc:title>Serverless Document Processing and Analytics Platform on AWS</dc:title>
  <dc:creator>Ram Thokane, Shashwat Jain</dc:creator>
  <dc:subject>Advanced Cloud Computing – Course Project</dc:subject>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verter">
    <vt:lpwstr>SolidFramework v10.0.19910.1</vt:lpwstr>
  </property>
  <property fmtid="{D5CDD505-2E9C-101B-9397-08002B2CF9AE}" pid="3" name="Created">
    <vt:filetime>2026-04-25T00:00:00Z</vt:filetime>
  </property>
  <property fmtid="{D5CDD505-2E9C-101B-9397-08002B2CF9AE}" pid="4" name="Creator">
    <vt:lpwstr>WPS Presentation</vt:lpwstr>
  </property>
  <property fmtid="{D5CDD505-2E9C-101B-9397-08002B2CF9AE}" pid="5" name="LastSaved">
    <vt:filetime>2026-08-28T00:00:00Z</vt:filetime>
  </property>
  <property fmtid="{D5CDD505-2E9C-101B-9397-08002B2CF9AE}" pid="6" name="SourceModified">
    <vt:lpwstr>D:20260425145132+05'30'</vt:lpwstr>
  </property>
</Properties>
</file>